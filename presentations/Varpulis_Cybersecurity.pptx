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Calibri"/>
              </a:defRPr>
            </a:pPr>
            <a:r>
              <a:t>VARPULIS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Real-Time Threat</a:t>
            </a:r>
            <a:br/>
            <a:r>
              <a:t>Detection at Machine Speed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0175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B0C4DE"/>
                </a:solidFill>
                <a:latin typeface="Calibri"/>
              </a:defRPr>
            </a:pPr>
            <a:r>
              <a:t>Kill Chain Correlation • Forensic Completeness • SOC Automation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07080"/>
                </a:solidFill>
                <a:latin typeface="Calibri"/>
              </a:defRPr>
            </a:pPr>
            <a:r>
              <a:t>Detect multi-stage attacks in seconds, not days of dwell time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914400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4D8"/>
                </a:solidFill>
                <a:latin typeface="Calibri"/>
              </a:defRPr>
            </a:pPr>
            <a:r>
              <a:t>VARPULIS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 Dwell Time Problem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1371600" cy="254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C4DE"/>
                </a:solidFill>
                <a:latin typeface="Calibri"/>
              </a:defRPr>
            </a:pPr>
            <a:r>
              <a:t>Attackers chain low-severity events into high-impact breaches.</a:t>
            </a:r>
            <a:br/>
            <a:r>
              <a:t>Traditional SIEM rules see individual alerts — not the kill chain.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86000"/>
            <a:ext cx="7772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FF6B35"/>
                </a:solidFill>
                <a:latin typeface="Calibri"/>
              </a:rPr>
              <a:t>▸ </a:t>
            </a:r>
            <a:r>
              <a:rPr sz="1500">
                <a:solidFill>
                  <a:srgbClr val="B0C4DE"/>
                </a:solidFill>
                <a:latin typeface="Calibri"/>
              </a:rPr>
              <a:t>Average dwell time: 10+ days from initial compromise to detection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FF6B35"/>
                </a:solidFill>
                <a:latin typeface="Calibri"/>
              </a:rPr>
              <a:t>▸ </a:t>
            </a:r>
            <a:r>
              <a:rPr sz="1500">
                <a:solidFill>
                  <a:srgbClr val="B0C4DE"/>
                </a:solidFill>
                <a:latin typeface="Calibri"/>
              </a:rPr>
              <a:t>SIEM correlation rules fire on individual events — missing the attack sequence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FF6B35"/>
                </a:solidFill>
                <a:latin typeface="Calibri"/>
              </a:rPr>
              <a:t>▸ </a:t>
            </a:r>
            <a:r>
              <a:rPr sz="1500">
                <a:solidFill>
                  <a:srgbClr val="B0C4DE"/>
                </a:solidFill>
                <a:latin typeface="Calibri"/>
              </a:rPr>
              <a:t>Greedy pattern matching reports the first match; the rest of the evidence is lost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FF6B35"/>
                </a:solidFill>
                <a:latin typeface="Calibri"/>
              </a:rPr>
              <a:t>▸ </a:t>
            </a:r>
            <a:r>
              <a:rPr sz="1500">
                <a:solidFill>
                  <a:srgbClr val="B0C4DE"/>
                </a:solidFill>
                <a:latin typeface="Calibri"/>
              </a:rPr>
              <a:t>Batch-window analytics (15 min–1 hr) cannot detect lateral movement in real time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FF6B35"/>
                </a:solidFill>
                <a:latin typeface="Calibri"/>
              </a:rPr>
              <a:t>▸ </a:t>
            </a:r>
            <a:r>
              <a:rPr sz="1500">
                <a:solidFill>
                  <a:srgbClr val="B0C4DE"/>
                </a:solidFill>
                <a:latin typeface="Calibri"/>
              </a:rPr>
              <a:t>Alert fatigue: thousands of low-severity alerts, no automated sequencing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029200"/>
            <a:ext cx="7772400" cy="73152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12064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35"/>
                </a:solidFill>
                <a:latin typeface="Calibri"/>
              </a:defRPr>
            </a:pPr>
            <a:r>
              <a:t>"Every hour of dwell time increases breach cost by an average of $37,000.</a:t>
            </a:r>
            <a:br/>
            <a:r>
              <a:t>The question is not IF you will be breached, but how fast you detect it."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4D8"/>
                </a:solidFill>
                <a:latin typeface="Calibri"/>
              </a:defRPr>
            </a:pPr>
            <a:r>
              <a:t>VARPULIS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Multi-Stage Kill Chain Detection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1371600" cy="254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0C4DE"/>
                </a:solidFill>
                <a:latin typeface="Calibri"/>
              </a:defRPr>
            </a:pPr>
            <a:r>
              <a:t>Varpulis natively correlates multi-stage attack sequences across sources</a:t>
            </a:r>
            <a:br/>
            <a:r>
              <a:t>using SASE+ temporal pattern matching with full Kleene closure.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2194560"/>
            <a:ext cx="1554480" cy="118872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224028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6B35"/>
                </a:solidFill>
                <a:latin typeface="Calibri"/>
              </a:defRPr>
            </a:pPr>
            <a:r>
              <a:t>1. Recon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60604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C4DE"/>
                </a:solidFill>
                <a:latin typeface="Calibri"/>
              </a:defRPr>
            </a:pPr>
            <a:r>
              <a:t>Port scans, DNS</a:t>
            </a:r>
            <a:br/>
            <a:r>
              <a:t>enumeration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68880"/>
            <a:ext cx="164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35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93392" y="2194560"/>
            <a:ext cx="1554480" cy="118872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93392" y="224028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6B35"/>
                </a:solidFill>
                <a:latin typeface="Calibri"/>
              </a:defRPr>
            </a:pPr>
            <a:r>
              <a:t>2. Initial Access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93392" y="260604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C4DE"/>
                </a:solidFill>
                <a:latin typeface="Calibri"/>
              </a:defRPr>
            </a:pPr>
            <a:r>
              <a:t>Brute force,</a:t>
            </a:r>
            <a:br/>
            <a:r>
              <a:t>phishing click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47872" y="2468880"/>
            <a:ext cx="164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35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12464" y="2194560"/>
            <a:ext cx="1554480" cy="118872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12464" y="224028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6B35"/>
                </a:solidFill>
                <a:latin typeface="Calibri"/>
              </a:defRPr>
            </a:pPr>
            <a:r>
              <a:t>3. Lateral Move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12464" y="260604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C4DE"/>
                </a:solidFill>
                <a:latin typeface="Calibri"/>
              </a:defRPr>
            </a:pPr>
            <a:r>
              <a:t>SMB/RDP across</a:t>
            </a:r>
            <a:br/>
            <a:r>
              <a:t>subnets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66944" y="2468880"/>
            <a:ext cx="164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35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31536" y="2194560"/>
            <a:ext cx="1554480" cy="118872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31536" y="224028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6B35"/>
                </a:solidFill>
                <a:latin typeface="Calibri"/>
              </a:defRPr>
            </a:pPr>
            <a:r>
              <a:t>4. Privilege Esc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31536" y="260604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C4DE"/>
                </a:solidFill>
                <a:latin typeface="Calibri"/>
              </a:defRPr>
            </a:pPr>
            <a:r>
              <a:t>Admin credential</a:t>
            </a:r>
            <a:br/>
            <a:r>
              <a:t>acquisition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2468880"/>
            <a:ext cx="164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35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50608" y="2194560"/>
            <a:ext cx="1554480" cy="118872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50608" y="224028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6B35"/>
                </a:solidFill>
                <a:latin typeface="Calibri"/>
              </a:defRPr>
            </a:pPr>
            <a:r>
              <a:t>5. Exfiltration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50608" y="260604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C4DE"/>
                </a:solidFill>
                <a:latin typeface="Calibri"/>
              </a:defRPr>
            </a:pPr>
            <a:r>
              <a:t>Data staging,</a:t>
            </a:r>
            <a:br/>
            <a:r>
              <a:t>DNS tunneling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3657600"/>
            <a:ext cx="7772400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73380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6B35"/>
                </a:solidFill>
                <a:latin typeface="Calibri"/>
              </a:defRPr>
            </a:pPr>
            <a:r>
              <a:t>WHAT MAKES THIS UNIQUE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1148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FF6B35"/>
                </a:solidFill>
                <a:latin typeface="Calibri"/>
              </a:rPr>
              <a:t>▸ </a:t>
            </a:r>
            <a:r>
              <a:rPr sz="1400">
                <a:solidFill>
                  <a:srgbClr val="B0C4DE"/>
                </a:solidFill>
                <a:latin typeface="Calibri"/>
              </a:rPr>
              <a:t>Kleene closure (brute_force+) captures every failed login attempt — complete forensic trail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F6B35"/>
                </a:solidFill>
                <a:latin typeface="Calibri"/>
              </a:rPr>
              <a:t>▸ </a:t>
            </a:r>
            <a:r>
              <a:rPr sz="1400">
                <a:solidFill>
                  <a:srgbClr val="B0C4DE"/>
                </a:solidFill>
                <a:latin typeface="Calibri"/>
              </a:rPr>
              <a:t>Temporal constraints (.within) enforce time windows — no stale correlations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F6B35"/>
                </a:solidFill>
                <a:latin typeface="Calibri"/>
              </a:rPr>
              <a:t>▸ </a:t>
            </a:r>
            <a:r>
              <a:rPr sz="1400">
                <a:solidFill>
                  <a:srgbClr val="B0C4DE"/>
                </a:solidFill>
                <a:latin typeface="Calibri"/>
              </a:rPr>
              <a:t>Negation (AND NOT) detects absence — alert when expected response never arrives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F6B35"/>
                </a:solidFill>
                <a:latin typeface="Calibri"/>
              </a:rPr>
              <a:t>▸ </a:t>
            </a:r>
            <a:r>
              <a:rPr sz="1400">
                <a:solidFill>
                  <a:srgbClr val="B0C4DE"/>
                </a:solidFill>
                <a:latin typeface="Calibri"/>
              </a:rPr>
              <a:t>Sub-millisecond detection — alert fires before the attacker completes the chain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4D8"/>
                </a:solidFill>
                <a:latin typeface="Calibri"/>
              </a:defRPr>
            </a:pPr>
            <a:r>
              <a:t>VARPULIS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Forensic Completeness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1371600" cy="254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0C4DE"/>
                </a:solidFill>
                <a:latin typeface="Calibri"/>
              </a:defRPr>
            </a:pPr>
            <a:r>
              <a:t>Complete evidence capture — not just the first match.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103120"/>
            <a:ext cx="3657600" cy="292608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07080"/>
                </a:solidFill>
                <a:latin typeface="Calibri"/>
              </a:defRPr>
            </a:pPr>
            <a:r>
              <a:t>GREEDY MATCHING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60320"/>
            <a:ext cx="32918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607080"/>
                </a:solidFill>
                <a:latin typeface="Calibri"/>
              </a:rPr>
              <a:t>▸ </a:t>
            </a:r>
            <a:r>
              <a:rPr sz="1300">
                <a:solidFill>
                  <a:srgbClr val="607080"/>
                </a:solidFill>
                <a:latin typeface="Calibri"/>
              </a:rPr>
              <a:t>First brute-force attempt captured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607080"/>
                </a:solidFill>
                <a:latin typeface="Calibri"/>
              </a:rPr>
              <a:t>▸ </a:t>
            </a:r>
            <a:r>
              <a:rPr sz="1300">
                <a:solidFill>
                  <a:srgbClr val="607080"/>
                </a:solidFill>
                <a:latin typeface="Calibri"/>
              </a:rPr>
              <a:t>One lateral movement hop recorded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607080"/>
                </a:solidFill>
                <a:latin typeface="Calibri"/>
              </a:rPr>
              <a:t>▸ </a:t>
            </a:r>
            <a:r>
              <a:rPr sz="1300">
                <a:solidFill>
                  <a:srgbClr val="607080"/>
                </a:solidFill>
                <a:latin typeface="Calibri"/>
              </a:rPr>
              <a:t>Final exfiltration event flagged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607080"/>
                </a:solidFill>
                <a:latin typeface="Calibri"/>
              </a:rPr>
              <a:t>▸ </a:t>
            </a:r>
            <a:r>
              <a:rPr sz="1300">
                <a:solidFill>
                  <a:srgbClr val="607080"/>
                </a:solidFill>
                <a:latin typeface="Calibri"/>
              </a:rPr>
              <a:t>Verdict: "3 events found"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2103120"/>
            <a:ext cx="4114800" cy="292608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0" y="21945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6B35"/>
                </a:solidFill>
                <a:latin typeface="Calibri"/>
              </a:defRPr>
            </a:pPr>
            <a:r>
              <a:t>VARPULIS KLEENE CLOSURE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560320"/>
            <a:ext cx="3657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FF6B35"/>
                </a:solidFill>
                <a:latin typeface="Calibri"/>
              </a:rPr>
              <a:t>▸ </a:t>
            </a:r>
            <a:r>
              <a:rPr sz="1300">
                <a:solidFill>
                  <a:srgbClr val="FFFFFF"/>
                </a:solidFill>
                <a:latin typeface="Calibri"/>
              </a:rPr>
              <a:t>All 847 brute-force attempts captured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FF6B35"/>
                </a:solidFill>
                <a:latin typeface="Calibri"/>
              </a:rPr>
              <a:t>▸ </a:t>
            </a:r>
            <a:r>
              <a:rPr sz="1300">
                <a:solidFill>
                  <a:srgbClr val="FFFFFF"/>
                </a:solidFill>
                <a:latin typeface="Calibri"/>
              </a:rPr>
              <a:t>Complete lateral movement path: 12 hops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FF6B35"/>
                </a:solidFill>
                <a:latin typeface="Calibri"/>
              </a:rPr>
              <a:t>▸ </a:t>
            </a:r>
            <a:r>
              <a:rPr sz="1300">
                <a:solidFill>
                  <a:srgbClr val="FFFFFF"/>
                </a:solidFill>
                <a:latin typeface="Calibri"/>
              </a:rPr>
              <a:t>Every staged file + exfil connection logged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FF6B35"/>
                </a:solidFill>
                <a:latin typeface="Calibri"/>
              </a:rPr>
              <a:t>▸ </a:t>
            </a:r>
            <a:r>
              <a:rPr sz="1300">
                <a:solidFill>
                  <a:srgbClr val="FFFFFF"/>
                </a:solidFill>
                <a:latin typeface="Calibri"/>
              </a:rPr>
              <a:t>Verdict: "862 events, full attack timeline"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303520"/>
            <a:ext cx="2468880" cy="109728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544068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6B35"/>
                </a:solidFill>
                <a:latin typeface="Calibri"/>
              </a:defRPr>
            </a:pPr>
            <a:r>
              <a:t>5×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943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C4DE"/>
                </a:solidFill>
                <a:latin typeface="Calibri"/>
              </a:defRPr>
            </a:pPr>
            <a:r>
              <a:t>More evidence</a:t>
            </a:r>
            <a:br/>
            <a:r>
              <a:t>captured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91840" y="5303520"/>
            <a:ext cx="2468880" cy="109728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91840" y="544068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E5A0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5943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C4DE"/>
                </a:solidFill>
                <a:latin typeface="Calibri"/>
              </a:defRPr>
            </a:pPr>
            <a:r>
              <a:t>Attack timeline</a:t>
            </a:r>
            <a:br/>
            <a:r>
              <a:t>reconstruction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5303520"/>
            <a:ext cx="2468880" cy="109728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40" y="544068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6B35"/>
                </a:solidFill>
                <a:latin typeface="Calibri"/>
              </a:defRPr>
            </a:pPr>
            <a:r>
              <a:t>Seconds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5943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C4DE"/>
                </a:solidFill>
                <a:latin typeface="Calibri"/>
              </a:defRPr>
            </a:pPr>
            <a:r>
              <a:t>From first event</a:t>
            </a:r>
            <a:br/>
            <a:r>
              <a:t>to detection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4D8"/>
                </a:solidFill>
                <a:latin typeface="Calibri"/>
              </a:defRPr>
            </a:pPr>
            <a:r>
              <a:t>VARPULIS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Detection Rules Analysts Can Write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1371600" cy="254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0C4DE"/>
                </a:solidFill>
                <a:latin typeface="Calibri"/>
              </a:defRPr>
            </a:pPr>
            <a:r>
              <a:t>Security analysts write detection rules in plain, readable syntax.</a:t>
            </a:r>
            <a:br/>
            <a:r>
              <a:t>No Java, no Scala, no XML — just patterns.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194560"/>
            <a:ext cx="7772400" cy="256032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77724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E5A0"/>
                </a:solidFill>
                <a:latin typeface="Consolas"/>
              </a:defRPr>
            </a:pPr>
            <a:r>
              <a:t>  // Detect brute force → lateral movement → exfiltration</a:t>
            </a:r>
            <a:br/>
            <a:r>
              <a:t>  stream KillChain =</a:t>
            </a:r>
            <a:br/>
            <a:r>
              <a:t>      SEQ(FailedLogin bf+, LateralMove lm+, DataExfil ex)</a:t>
            </a:r>
            <a:br/>
            <a:r>
              <a:t>      .where(bf.target_host == lm.source_host)</a:t>
            </a:r>
            <a:br/>
            <a:r>
              <a:t>      .where(lm.dest_host == ex.source_host)</a:t>
            </a:r>
            <a:br/>
            <a:r>
              <a:t>      .within(4h)</a:t>
            </a:r>
            <a:br/>
            <a:r>
              <a:t>      .emit(attacker_ip: bf.source_ip,</a:t>
            </a:r>
            <a:br/>
            <a:r>
              <a:t>            failed_logins: count(bf), hops: count(lm),</a:t>
            </a:r>
            <a:br/>
            <a:r>
              <a:t>            exfil_bytes: sum(ex.bytes), severity: "critical")</a:t>
            </a:r>
            <a:br/>
            <a:r>
              <a:t>      .to(SIEMAlerts, IncidentResponse)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029200"/>
            <a:ext cx="7772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FF6B35"/>
                </a:solidFill>
                <a:latin typeface="Calibri"/>
              </a:rPr>
              <a:t>▸ </a:t>
            </a:r>
            <a:r>
              <a:rPr sz="1300">
                <a:solidFill>
                  <a:srgbClr val="B0C4DE"/>
                </a:solidFill>
                <a:latin typeface="Calibri"/>
              </a:rPr>
              <a:t>bf+ and lm+ capture every matching event — not just the first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FF6B35"/>
                </a:solidFill>
                <a:latin typeface="Calibri"/>
              </a:rPr>
              <a:t>▸ </a:t>
            </a:r>
            <a:r>
              <a:rPr sz="1300">
                <a:solidFill>
                  <a:srgbClr val="B0C4DE"/>
                </a:solidFill>
                <a:latin typeface="Calibri"/>
              </a:rPr>
              <a:t>Cross-source correlation (host IPs) enforced in the pattern, not post-processing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FF6B35"/>
                </a:solidFill>
                <a:latin typeface="Calibri"/>
              </a:rPr>
              <a:t>▸ </a:t>
            </a:r>
            <a:r>
              <a:rPr sz="1300">
                <a:solidFill>
                  <a:srgbClr val="B0C4DE"/>
                </a:solidFill>
                <a:latin typeface="Calibri"/>
              </a:rPr>
              <a:t>Direct routing to SIEM and incident response — zero integration code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4D8"/>
                </a:solidFill>
                <a:latin typeface="Calibri"/>
              </a:defRPr>
            </a:pPr>
            <a:r>
              <a:t>VARPULIS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SOC-Grade Performance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1371600" cy="254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1828800" cy="109728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6B35"/>
                </a:solidFill>
                <a:latin typeface="Calibri"/>
              </a:defRPr>
            </a:pPr>
            <a:r>
              <a:t>&lt; 1 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C4DE"/>
                </a:solidFill>
                <a:latin typeface="Calibri"/>
              </a:defRPr>
            </a:pPr>
            <a:r>
              <a:t>Detection</a:t>
            </a:r>
            <a:br/>
            <a:r>
              <a:t>latency</a:t>
            </a:r>
          </a:p>
        </p:txBody>
      </p:sp>
      <p:sp>
        <p:nvSpPr>
          <p:cNvPr id="9" name="Rectangle 8"/>
          <p:cNvSpPr/>
          <p:nvPr/>
        </p:nvSpPr>
        <p:spPr>
          <a:xfrm>
            <a:off x="2651760" y="1463040"/>
            <a:ext cx="1828800" cy="109728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51760" y="16002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E5A0"/>
                </a:solidFill>
                <a:latin typeface="Calibri"/>
              </a:defRPr>
            </a:pPr>
            <a:r>
              <a:t>2.1M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10312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C4DE"/>
                </a:solidFill>
                <a:latin typeface="Calibri"/>
              </a:defRPr>
            </a:pPr>
            <a:r>
              <a:t>Events/sec</a:t>
            </a:r>
            <a:br/>
            <a:r>
              <a:t>(10 rules)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0" y="1463040"/>
            <a:ext cx="1828800" cy="109728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0" y="16002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6B35"/>
                </a:solidFill>
                <a:latin typeface="Calibri"/>
              </a:defRPr>
            </a:pPr>
            <a:r>
              <a:t>10 MB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210312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C4DE"/>
                </a:solidFill>
                <a:latin typeface="Calibri"/>
              </a:defRPr>
            </a:pPr>
            <a:r>
              <a:t>Memory per</a:t>
            </a:r>
            <a:br/>
            <a:r>
              <a:t>pipeline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0" y="1463040"/>
            <a:ext cx="1828800" cy="109728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0" y="16002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E5A0"/>
                </a:solidFill>
                <a:latin typeface="Calibri"/>
              </a:defRPr>
            </a:pPr>
            <a:r>
              <a:t>Zero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210312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C4DE"/>
                </a:solidFill>
                <a:latin typeface="Calibri"/>
              </a:defRPr>
            </a:pPr>
            <a:r>
              <a:t>GC pauses</a:t>
            </a:r>
            <a:br/>
            <a:r>
              <a:t>(Rust native)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926080"/>
            <a:ext cx="7772400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00228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6B35"/>
                </a:solidFill>
                <a:latin typeface="Calibri"/>
              </a:defRPr>
            </a:pPr>
            <a:r>
              <a:t>SOC IMPACT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38328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FF6B35"/>
                </a:solidFill>
                <a:latin typeface="Calibri"/>
              </a:rPr>
              <a:t>▸ </a:t>
            </a:r>
            <a:r>
              <a:rPr sz="1300">
                <a:solidFill>
                  <a:srgbClr val="B0C4DE"/>
                </a:solidFill>
                <a:latin typeface="Calibri"/>
              </a:rPr>
              <a:t>Process entire SIEM event stream in real time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FF6B35"/>
                </a:solidFill>
                <a:latin typeface="Calibri"/>
              </a:rPr>
              <a:t>▸ </a:t>
            </a:r>
            <a:r>
              <a:rPr sz="1300">
                <a:solidFill>
                  <a:srgbClr val="B0C4DE"/>
                </a:solidFill>
                <a:latin typeface="Calibri"/>
              </a:rPr>
              <a:t>50+ detection rules on a single node (Hamlet engine)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FF6B35"/>
                </a:solidFill>
                <a:latin typeface="Calibri"/>
              </a:rPr>
              <a:t>▸ </a:t>
            </a:r>
            <a:r>
              <a:rPr sz="1300">
                <a:solidFill>
                  <a:srgbClr val="B0C4DE"/>
                </a:solidFill>
                <a:latin typeface="Calibri"/>
              </a:rPr>
              <a:t>No warm-up time — instant detection from cold start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FF6B35"/>
                </a:solidFill>
                <a:latin typeface="Calibri"/>
              </a:rPr>
              <a:t>▸ </a:t>
            </a:r>
            <a:r>
              <a:rPr sz="1300">
                <a:solidFill>
                  <a:srgbClr val="B0C4DE"/>
                </a:solidFill>
                <a:latin typeface="Calibri"/>
              </a:rPr>
              <a:t>Deterministic latency — no GC-induced blind spots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54880" y="2926080"/>
            <a:ext cx="3931920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0" y="30022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6B35"/>
                </a:solidFill>
                <a:latin typeface="Calibri"/>
              </a:defRPr>
            </a:pPr>
            <a:r>
              <a:t>INTEGRATION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3383280"/>
            <a:ext cx="39319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FF6B35"/>
                </a:solidFill>
                <a:latin typeface="Calibri"/>
              </a:rPr>
              <a:t>▸ </a:t>
            </a:r>
            <a:r>
              <a:rPr sz="1300">
                <a:solidFill>
                  <a:srgbClr val="B0C4DE"/>
                </a:solidFill>
                <a:latin typeface="Calibri"/>
              </a:rPr>
              <a:t>Kafka / MQTT input from SIEM or log collectors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FF6B35"/>
                </a:solidFill>
                <a:latin typeface="Calibri"/>
              </a:rPr>
              <a:t>▸ </a:t>
            </a:r>
            <a:r>
              <a:rPr sz="1300">
                <a:solidFill>
                  <a:srgbClr val="B0C4DE"/>
                </a:solidFill>
                <a:latin typeface="Calibri"/>
              </a:rPr>
              <a:t>HTTP webhook output to SOAR platforms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FF6B35"/>
                </a:solidFill>
                <a:latin typeface="Calibri"/>
              </a:rPr>
              <a:t>▸ </a:t>
            </a:r>
            <a:r>
              <a:rPr sz="1300">
                <a:solidFill>
                  <a:srgbClr val="B0C4DE"/>
                </a:solidFill>
                <a:latin typeface="Calibri"/>
              </a:rPr>
              <a:t>Prometheus metrics for SOC dashboards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FF6B35"/>
                </a:solidFill>
                <a:latin typeface="Calibri"/>
              </a:rPr>
              <a:t>▸ </a:t>
            </a:r>
            <a:r>
              <a:rPr sz="1300">
                <a:solidFill>
                  <a:srgbClr val="B0C4DE"/>
                </a:solidFill>
                <a:latin typeface="Calibri"/>
              </a:rPr>
              <a:t>Web UI for rule management and testing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4D8"/>
                </a:solidFill>
                <a:latin typeface="Calibri"/>
              </a:defRPr>
            </a:pPr>
            <a:r>
              <a:t>VARPULIS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Deterministic AI Correlation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1371600" cy="254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0C4DE"/>
                </a:solidFill>
                <a:latin typeface="Calibri"/>
              </a:defRPr>
            </a:pPr>
            <a:r>
              <a:t>Deterministic AI-powered correlation that scores event relationships</a:t>
            </a:r>
            <a:br/>
            <a:r>
              <a:t>without probabilistic models. Reproducible results, auditable decisions.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86000"/>
            <a:ext cx="3657600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3622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6B35"/>
                </a:solidFill>
                <a:latin typeface="Calibri"/>
              </a:defRPr>
            </a:pPr>
            <a:r>
              <a:t>HOW IT 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743200"/>
            <a:ext cx="3840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FF6B35"/>
                </a:solidFill>
                <a:latin typeface="Calibri"/>
              </a:rPr>
              <a:t>▸ </a:t>
            </a:r>
            <a:r>
              <a:rPr sz="1300">
                <a:solidFill>
                  <a:srgbClr val="B0C4DE"/>
                </a:solidFill>
                <a:latin typeface="Calibri"/>
              </a:rPr>
              <a:t>Multi-head attention over event embeddings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FF6B35"/>
                </a:solidFill>
                <a:latin typeface="Calibri"/>
              </a:rPr>
              <a:t>▸ </a:t>
            </a:r>
            <a:r>
              <a:rPr sz="1300">
                <a:solidFill>
                  <a:srgbClr val="B0C4DE"/>
                </a:solidFill>
                <a:latin typeface="Calibri"/>
              </a:rPr>
              <a:t>Correlation scores based on field similarity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FF6B35"/>
                </a:solidFill>
                <a:latin typeface="Calibri"/>
              </a:rPr>
              <a:t>▸ </a:t>
            </a:r>
            <a:r>
              <a:rPr sz="1300">
                <a:solidFill>
                  <a:srgbClr val="B0C4DE"/>
                </a:solidFill>
                <a:latin typeface="Calibri"/>
              </a:rPr>
              <a:t>Deterministic: same input = same output, always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FF6B35"/>
                </a:solidFill>
                <a:latin typeface="Calibri"/>
              </a:rPr>
              <a:t>▸ </a:t>
            </a:r>
            <a:r>
              <a:rPr sz="1300">
                <a:solidFill>
                  <a:srgbClr val="B0C4DE"/>
                </a:solidFill>
                <a:latin typeface="Calibri"/>
              </a:rPr>
              <a:t>No training data required — works on day 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2286000"/>
            <a:ext cx="3931920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0" y="236220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6B35"/>
                </a:solidFill>
                <a:latin typeface="Calibri"/>
              </a:defRPr>
            </a:pPr>
            <a:r>
              <a:t>SECURITY USE CASES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743200"/>
            <a:ext cx="39319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FF6B35"/>
                </a:solidFill>
                <a:latin typeface="Calibri"/>
              </a:rPr>
              <a:t>▸ </a:t>
            </a:r>
            <a:r>
              <a:rPr sz="1300">
                <a:solidFill>
                  <a:srgbClr val="B0C4DE"/>
                </a:solidFill>
                <a:latin typeface="Calibri"/>
              </a:rPr>
              <a:t>Correlate events across firewalls, endpoints, and identity systems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FF6B35"/>
                </a:solidFill>
                <a:latin typeface="Calibri"/>
              </a:rPr>
              <a:t>▸ </a:t>
            </a:r>
            <a:r>
              <a:rPr sz="1300">
                <a:solidFill>
                  <a:srgbClr val="B0C4DE"/>
                </a:solidFill>
                <a:latin typeface="Calibri"/>
              </a:rPr>
              <a:t>Detect anomalous event sequences without training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FF6B35"/>
                </a:solidFill>
                <a:latin typeface="Calibri"/>
              </a:rPr>
              <a:t>▸ </a:t>
            </a:r>
            <a:r>
              <a:rPr sz="1300">
                <a:solidFill>
                  <a:srgbClr val="B0C4DE"/>
                </a:solidFill>
                <a:latin typeface="Calibri"/>
              </a:rPr>
              <a:t>Explainable alerting: correlation scores show why events were linked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FF6B35"/>
                </a:solidFill>
                <a:latin typeface="Calibri"/>
              </a:rPr>
              <a:t>▸ </a:t>
            </a:r>
            <a:r>
              <a:rPr sz="1300">
                <a:solidFill>
                  <a:srgbClr val="B0C4DE"/>
                </a:solidFill>
                <a:latin typeface="Calibri"/>
              </a:rPr>
              <a:t>Augment rule-based detection with pattern-aware scoring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029200"/>
            <a:ext cx="7772400" cy="73152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512064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6B35"/>
                </a:solidFill>
                <a:latin typeface="Calibri"/>
              </a:defRPr>
            </a:pPr>
            <a:r>
              <a:t>Unlike ML-based UEBA, Varpulis attention is deterministic and auditable.</a:t>
            </a:r>
            <a:br/>
            <a:r>
              <a:t>No black-box models. No training drift. No false positive storms from retraining.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4D8"/>
                </a:solidFill>
                <a:latin typeface="Calibri"/>
              </a:defRPr>
            </a:pPr>
            <a:r>
              <a:t>VARPULIS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Flexible Deployment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1371600" cy="254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C4DE"/>
                </a:solidFill>
                <a:latin typeface="Calibri"/>
              </a:defRPr>
            </a:pPr>
            <a:r>
              <a:t>From edge sensor to enterprise SOC — one binary, one language.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103120"/>
            <a:ext cx="2651760" cy="256032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21945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6B35"/>
                </a:solidFill>
                <a:latin typeface="Calibri"/>
              </a:defRPr>
            </a:pPr>
            <a:r>
              <a:t>Edge / 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651760"/>
            <a:ext cx="2377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C4DE"/>
                </a:solidFill>
                <a:latin typeface="Calibri"/>
              </a:defRPr>
            </a:pPr>
            <a:r>
              <a:t>Single binary on minimal hardware</a:t>
            </a:r>
            <a:br/>
            <a:r>
              <a:t>10 MB footprint</a:t>
            </a:r>
            <a:br/>
            <a:r>
              <a:t>Air-gapped environments</a:t>
            </a:r>
            <a:br/>
            <a:r>
              <a:t>No JVM, no dependencies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2103120"/>
            <a:ext cx="2651760" cy="256032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0" y="21945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6B35"/>
                </a:solidFill>
                <a:latin typeface="Calibri"/>
              </a:defRPr>
            </a:pPr>
            <a:r>
              <a:t>SOC Server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2651760"/>
            <a:ext cx="2377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C4DE"/>
                </a:solidFill>
                <a:latin typeface="Calibri"/>
              </a:defRPr>
            </a:pPr>
            <a:r>
              <a:t>REST API multi-tenant mode</a:t>
            </a:r>
            <a:br/>
            <a:r>
              <a:t>Kafka + SIEM integration</a:t>
            </a:r>
            <a:br/>
            <a:r>
              <a:t>Prometheus + Grafana</a:t>
            </a:r>
            <a:br/>
            <a:r>
              <a:t>Web UI for rule management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2103120"/>
            <a:ext cx="2651760" cy="256032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0" y="21945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6B35"/>
                </a:solidFill>
                <a:latin typeface="Calibri"/>
              </a:defRPr>
            </a:pPr>
            <a:r>
              <a:t>Enterprise Cluster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2651760"/>
            <a:ext cx="2377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C4DE"/>
                </a:solidFill>
                <a:latin typeface="Calibri"/>
              </a:defRPr>
            </a:pPr>
            <a:r>
              <a:t>Coordinator + N workers</a:t>
            </a:r>
            <a:br/>
            <a:r>
              <a:t>Horizontal scaling</a:t>
            </a:r>
            <a:br/>
            <a:r>
              <a:t>Kubernetes / Helm</a:t>
            </a:r>
            <a:br/>
            <a:r>
              <a:t>Checkpointing &amp; recovery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937760"/>
            <a:ext cx="7772400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501396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6B35"/>
                </a:solidFill>
                <a:latin typeface="Calibri"/>
              </a:defRPr>
            </a:pPr>
            <a:r>
              <a:t>OPERATIONAL ADVANTAGES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39496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FF6B35"/>
                </a:solidFill>
                <a:latin typeface="Calibri"/>
              </a:rPr>
              <a:t>▸ </a:t>
            </a:r>
            <a:r>
              <a:rPr sz="1300">
                <a:solidFill>
                  <a:srgbClr val="B0C4DE"/>
                </a:solidFill>
                <a:latin typeface="Calibri"/>
              </a:rPr>
              <a:t>Hot reload: update detection rules without restarting pipelines or losing events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FF6B35"/>
                </a:solidFill>
                <a:latin typeface="Calibri"/>
              </a:rPr>
              <a:t>▸ </a:t>
            </a:r>
            <a:r>
              <a:rPr sz="1300">
                <a:solidFill>
                  <a:srgbClr val="B0C4DE"/>
                </a:solidFill>
                <a:latin typeface="Calibri"/>
              </a:rPr>
              <a:t>State checkpointing: automatic recovery after restarts — no missed detections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4D8"/>
                </a:solidFill>
                <a:latin typeface="Calibri"/>
              </a:defRPr>
            </a:pPr>
            <a:r>
              <a:t>VARPULIS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Security ROI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1371600" cy="254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463040"/>
            <a:ext cx="2011680" cy="109728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60020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6B35"/>
                </a:solidFill>
                <a:latin typeface="Calibri"/>
              </a:defRPr>
            </a:pPr>
            <a:r>
              <a:t>Seconds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1031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C4DE"/>
                </a:solidFill>
                <a:latin typeface="Calibri"/>
              </a:defRPr>
            </a:pPr>
            <a:r>
              <a:t>Dwell time</a:t>
            </a:r>
            <a:br/>
            <a:r>
              <a:t>reduction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2468880" y="1463040"/>
            <a:ext cx="2011680" cy="109728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80" y="160020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E5A0"/>
                </a:solidFill>
                <a:latin typeface="Calibri"/>
              </a:defRPr>
            </a:pPr>
            <a:r>
              <a:t>5×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1031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C4DE"/>
                </a:solidFill>
                <a:latin typeface="Calibri"/>
              </a:defRPr>
            </a:pPr>
            <a:r>
              <a:t>More evidence</a:t>
            </a:r>
            <a:br/>
            <a:r>
              <a:t>per incident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63440" y="1463040"/>
            <a:ext cx="2011680" cy="109728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160020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6B35"/>
                </a:solidFill>
                <a:latin typeface="Calibri"/>
              </a:defRPr>
            </a:pPr>
            <a:r>
              <a:t>100×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1031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C4DE"/>
                </a:solidFill>
                <a:latin typeface="Calibri"/>
              </a:defRPr>
            </a:pPr>
            <a:r>
              <a:t>Rule scaling</a:t>
            </a:r>
            <a:br/>
            <a:r>
              <a:t>throughput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0" y="1463040"/>
            <a:ext cx="2011680" cy="109728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0" y="160020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E5A0"/>
                </a:solidFill>
                <a:latin typeface="Calibri"/>
              </a:defRPr>
            </a:pPr>
            <a:r>
              <a:t>15×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21031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C4DE"/>
                </a:solidFill>
                <a:latin typeface="Calibri"/>
              </a:defRPr>
            </a:pPr>
            <a:r>
              <a:t>Memory savings</a:t>
            </a:r>
            <a:br/>
            <a:r>
              <a:t>vs legacy CEP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926080"/>
            <a:ext cx="7772400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00228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6B35"/>
                </a:solidFill>
                <a:latin typeface="Calibri"/>
              </a:defRPr>
            </a:pPr>
            <a:r>
              <a:t>BUSINESS OUTCOMES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383280"/>
            <a:ext cx="7772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FF6B35"/>
                </a:solidFill>
                <a:latin typeface="Calibri"/>
              </a:rPr>
              <a:t>▸ </a:t>
            </a:r>
            <a:r>
              <a:rPr sz="1500">
                <a:solidFill>
                  <a:srgbClr val="B0C4DE"/>
                </a:solidFill>
                <a:latin typeface="Calibri"/>
              </a:rPr>
              <a:t>Breach cost reduction: detect in seconds, not days — containing damage early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FF6B35"/>
                </a:solidFill>
                <a:latin typeface="Calibri"/>
              </a:rPr>
              <a:t>▸ </a:t>
            </a:r>
            <a:r>
              <a:rPr sz="1500">
                <a:solidFill>
                  <a:srgbClr val="B0C4DE"/>
                </a:solidFill>
                <a:latin typeface="Calibri"/>
              </a:rPr>
              <a:t>SOC efficiency: automated kill-chain correlation replaces manual triage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FF6B35"/>
                </a:solidFill>
                <a:latin typeface="Calibri"/>
              </a:rPr>
              <a:t>▸ </a:t>
            </a:r>
            <a:r>
              <a:rPr sz="1500">
                <a:solidFill>
                  <a:srgbClr val="B0C4DE"/>
                </a:solidFill>
                <a:latin typeface="Calibri"/>
              </a:rPr>
              <a:t>Compliance: complete forensic evidence for incident response and audit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FF6B35"/>
                </a:solidFill>
                <a:latin typeface="Calibri"/>
              </a:rPr>
              <a:t>▸ </a:t>
            </a:r>
            <a:r>
              <a:rPr sz="1500">
                <a:solidFill>
                  <a:srgbClr val="B0C4DE"/>
                </a:solidFill>
                <a:latin typeface="Calibri"/>
              </a:rPr>
              <a:t>Infrastructure savings: 10–15× less memory = run detection at the edge, not just the cloud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FF6B35"/>
                </a:solidFill>
                <a:latin typeface="Calibri"/>
              </a:rPr>
              <a:t>▸ </a:t>
            </a:r>
            <a:r>
              <a:rPr sz="1500">
                <a:solidFill>
                  <a:srgbClr val="B0C4DE"/>
                </a:solidFill>
                <a:latin typeface="Calibri"/>
              </a:rPr>
              <a:t>Analyst productivity: readable rules mean faster rule authoring and review cycles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Calibri"/>
              </a:defRPr>
            </a:pPr>
            <a:r>
              <a:t>VARPULIS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28600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Detect Faster. See Everything. Scale Effortlessly.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B0C4DE"/>
                </a:solidFill>
                <a:latin typeface="Calibri"/>
              </a:defRPr>
            </a:pPr>
            <a:r>
              <a:t>See Varpulis detect a live kill chain in real 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B4D8"/>
                </a:solidFill>
                <a:latin typeface="Calibri"/>
              </a:defRPr>
            </a:pPr>
            <a:r>
              <a:t>demo.varpulis-cep.com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914400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