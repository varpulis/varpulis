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Real-Time Threat</a:t>
            </a:r>
            <a:br/>
            <a:r>
              <a:t>Detection at Machine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C4DE"/>
                </a:solidFill>
                <a:latin typeface="Calibri"/>
              </a:defRPr>
            </a:pPr>
            <a:r>
              <a:t>Kill Chain Correlation • Forensic Completeness • SOC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7080"/>
                </a:solidFill>
                <a:latin typeface="Calibri"/>
              </a:defRPr>
            </a:pPr>
            <a:r>
              <a:t>Detect multi-stage attacks in seconds, not days of dwell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Dwell Time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Attackers chain low-severity events into high-impact breaches.</a:t>
            </a:r>
            <a:br/>
            <a:r>
              <a:t>Traditional SIEM rules see individual alerts — not the kill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Average dwell time: 10+ days from initial compromise to detection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SIEM correlation rules fire on individual events — missing the attack sequence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Greedy pattern matching reports the first match; the rest of the evidence is lost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Batch-window analytics (15 min–1 hr) cannot detect lateral movement in real 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Alert fatigue: thousands of low-severity alerts, no automated sequencing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7772400" cy="7315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  <a:latin typeface="Calibri"/>
              </a:defRPr>
            </a:pPr>
            <a:r>
              <a:t>"Every hour of dwell time increases breach cost by an average of $37,000.</a:t>
            </a:r>
            <a:br/>
            <a:r>
              <a:t>The question is not IF you will be breached, but how fast you detect it."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Multi-Stage Kill Chain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Varpulis natively correlates multi-stage attack sequences across sources</a:t>
            </a:r>
            <a:br/>
            <a:r>
              <a:t>using SASE+ temporal pattern matching with full Kleene closure.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155448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Calibri"/>
              </a:defRPr>
            </a:pPr>
            <a:r>
              <a:t>1. Recon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06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E"/>
                </a:solidFill>
                <a:latin typeface="Calibri"/>
              </a:defRPr>
            </a:pPr>
            <a:r>
              <a:t>Port scans, DNS</a:t>
            </a:r>
            <a:br/>
            <a:r>
              <a:t>enumeration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2" y="2194560"/>
            <a:ext cx="155448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Calibri"/>
              </a:defRPr>
            </a:pPr>
            <a:r>
              <a:t>2. Initial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606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E"/>
                </a:solidFill>
                <a:latin typeface="Calibri"/>
              </a:defRPr>
            </a:pPr>
            <a:r>
              <a:t>Brute force,</a:t>
            </a:r>
            <a:br/>
            <a:r>
              <a:t>phishing click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12464" y="2194560"/>
            <a:ext cx="155448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Calibri"/>
              </a:defRPr>
            </a:pPr>
            <a:r>
              <a:t>3. Lateral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2606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E"/>
                </a:solidFill>
                <a:latin typeface="Calibri"/>
              </a:defRPr>
            </a:pPr>
            <a:r>
              <a:t>SMB/RDP across</a:t>
            </a:r>
            <a:br/>
            <a:r>
              <a:t>subnets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31536" y="2194560"/>
            <a:ext cx="155448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Calibri"/>
              </a:defRPr>
            </a:pPr>
            <a:r>
              <a:t>4. Privilege Esc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606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E"/>
                </a:solidFill>
                <a:latin typeface="Calibri"/>
              </a:defRPr>
            </a:pPr>
            <a:r>
              <a:t>Admin credential</a:t>
            </a:r>
            <a:br/>
            <a:r>
              <a:t>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8" y="2194560"/>
            <a:ext cx="1554480" cy="11887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Calibri"/>
              </a:defRPr>
            </a:pPr>
            <a:r>
              <a:t>5. Exfiltration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606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C4DE"/>
                </a:solidFill>
                <a:latin typeface="Calibri"/>
              </a:defRPr>
            </a:pPr>
            <a:r>
              <a:t>Data staging,</a:t>
            </a:r>
            <a:br/>
            <a:r>
              <a:t>DNS tunneling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57600"/>
            <a:ext cx="77724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33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WHAT MAKES THIS UNIQUE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6B35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Kleene closure (brute_force+) captures every failed login attempt — complete forensic trail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6B35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Temporal constraints (.within) enforce time windows — no stale correlations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6B35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Negation (AND NOT) detects absence — alert when expected response never arrives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6B35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Sub-millisecond detection — alert fires before the attacker completes the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Forensic Completeness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0C4DE"/>
                </a:solidFill>
                <a:latin typeface="Calibri"/>
              </a:defRPr>
            </a:pPr>
            <a:r>
              <a:t>Complete evidence capture — not just the first match.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29260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7080"/>
                </a:solidFill>
                <a:latin typeface="Calibri"/>
              </a:defRPr>
            </a:pPr>
            <a:r>
              <a:t>GREEDY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First brute-force attempt captured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One lateral movement hop recorded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Final exfiltration event flagged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07080"/>
                </a:solidFill>
                <a:latin typeface="Calibri"/>
              </a:rPr>
              <a:t>▸ </a:t>
            </a:r>
            <a:r>
              <a:rPr sz="1300">
                <a:solidFill>
                  <a:srgbClr val="607080"/>
                </a:solidFill>
                <a:latin typeface="Calibri"/>
              </a:rPr>
              <a:t>Verdict: "3 events found"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03120"/>
            <a:ext cx="4114800" cy="29260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VARPULIS KLEENE 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All 847 brute-force attempts captured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Complete lateral movement path: 12 hops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Every staged file + exfil connection logged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Verdict: "862 events, full attack timeline"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035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More evidence</a:t>
            </a:r>
            <a:br/>
            <a:r>
              <a:t>captured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53035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5440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Attack timeline</a:t>
            </a:r>
            <a:br/>
            <a:r>
              <a:t>reconstruction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53035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440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From first event</a:t>
            </a:r>
            <a:br/>
            <a:r>
              <a:t>to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Detection Rules Analysts Can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Security analysts write detection rules in plain, readable syntax.</a:t>
            </a:r>
            <a:br/>
            <a:r>
              <a:t>No Java, no Scala, no XML — just 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77240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/>
                <a:cs typeface="Consolas"/>
              </a:rPr>
              <a:t>// Detect brute force → lateral movement → exfiltration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/>
                <a:cs typeface="Consolas"/>
              </a:rPr>
              <a:t>stream KillChain =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  <a:latin typeface="Consolas"/>
                <a:cs typeface="Consolas"/>
              </a:rPr>
              <a:t>    SEQ(FailedLogin bf+, LateralMove lm+, DataExfil ex)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.where(bf.target_host == lm.source_host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586C0"/>
                </a:solidFill>
                <a:latin typeface="Consolas"/>
                <a:cs typeface="Consolas"/>
              </a:rPr>
              <a:t>       and lm.dest_host == ex.source_host)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.within(4h)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.forecast(confidence: 0.8, horizon: 10m, warmup: 500)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.where(forecast_probability &gt; 0.85)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.emit(attacker_ip: bf.source_ip,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ED4DA"/>
                </a:solidFill>
                <a:latin typeface="Consolas"/>
                <a:cs typeface="Consolas"/>
              </a:rPr>
              <a:t>          failed_logins: count(bf), hops: count(lm),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ED4DA"/>
                </a:solidFill>
                <a:latin typeface="Consolas"/>
                <a:cs typeface="Consolas"/>
              </a:rPr>
              <a:t>          exfil_bytes: sum(ex.bytes), severity: "critical")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CDBFE"/>
                </a:solidFill>
                <a:latin typeface="Consolas"/>
                <a:cs typeface="Consolas"/>
              </a:rPr>
              <a:t>    .to(SIEMAlerts, IncidentResponse)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bf+ and lm+ capture every matching event — not just the first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Cross-source correlation (host IPs) enforced in the pattern, not post-processing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Direct routing to SIEM and incident response — zero integration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SOC-Grade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&lt; 1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Detection</a:t>
            </a:r>
            <a:br/>
            <a:r>
              <a:t>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2.1M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Events/sec</a:t>
            </a:r>
            <a:br/>
            <a:r>
              <a:t>(10 rules)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10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Memory per</a:t>
            </a:r>
            <a:br/>
            <a:r>
              <a:t>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63040"/>
            <a:ext cx="182880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GC pauses</a:t>
            </a:r>
            <a:br/>
            <a:r>
              <a:t>(Rust native)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77724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02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SOC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Process entire SIEM event stream in real 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50+ detection rules on a single node (Hamlet engine)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No warm-up time — instant detection from cold start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Deterministic latency — no GC-induced blind spots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926080"/>
            <a:ext cx="393192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002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3832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Kafka / MQTT input from SIEM or log collectors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HTTP webhook output to SOAR platforms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Prometheus metrics for SOC dashboards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Web UI for rule management and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VARPULIS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Predict Attacks Before They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B0C4DE"/>
                </a:solidFill>
                <a:latin typeface="Calibri"/>
              </a:rPr>
              <a:t>Varpulis doesn’t just detect completed attacks — it forecasts whether
an in-progress attack sequence will reach its final stage, and alerts you
while there’s still time to intervene.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828800" cy="7315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Recon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C4DE"/>
                </a:solidFill>
                <a:latin typeface="Calibri"/>
              </a:rPr>
              <a:t>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Calibri"/>
              </a:rPr>
              <a:t>p = 0.12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920240"/>
            <a:ext cx="1828800" cy="7315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Brute 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240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C4DE"/>
                </a:solidFill>
                <a:latin typeface="Calibri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CAF50"/>
                </a:solidFill>
                <a:latin typeface="Calibri"/>
              </a:rPr>
              <a:t>p = 0.45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920240"/>
            <a:ext cx="1828800" cy="731520"/>
          </a:xfrm>
          <a:prstGeom prst="rect">
            <a:avLst/>
          </a:prstGeom>
          <a:solidFill>
            <a:srgbClr val="4A2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Lateral 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240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C4DE"/>
                </a:solidFill>
                <a:latin typeface="Calibri"/>
              </a:rPr>
              <a:t>Predicted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4336"/>
                </a:solidFill>
                <a:latin typeface="Calibri"/>
              </a:rPr>
              <a:t>p = 0.87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488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C4DE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920240"/>
            <a:ext cx="1828800" cy="731520"/>
          </a:xfrm>
          <a:prstGeom prst="rect">
            <a:avLst/>
          </a:prstGeom>
          <a:solidFill>
            <a:srgbClr val="2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Exfiltration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240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C4DE"/>
                </a:solidFill>
                <a:latin typeface="Calibri"/>
              </a:rPr>
              <a:t>Blocked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26080"/>
            <a:ext cx="38404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02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WHAT IT DOES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4612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Learns your event patterns from the live stream — no training data needed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After seeing the first stages of an attack, calculates the probability it will complete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Gives you a confidence score: how certain the prediction is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Alerts fire at a probability threshold you choose — before the final stage happens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926080"/>
            <a:ext cx="393192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002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WHY IT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2461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Shift from reactive detection to proactive prevention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Prioritize your SOC queue: high-probability attacks surface first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Intervene at stage 2 instead of investigating after exfiltration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Adapts automatically as attacker techniques evolve — no model retraining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7772400" cy="6400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B0C4DE"/>
                </a:solidFill>
                <a:latin typeface="Calibri"/>
              </a:rPr>
              <a:t>One line in your detection rule enables forecasting:   .forecast(confidence: 0.8, horizon: 10m)
The engine does the rest — learning, predicting, and alerting — all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Flexible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From edge sensor to enterprise SOC — one binary, one language.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Calibri"/>
              </a:defRPr>
            </a:pPr>
            <a:r>
              <a:t>Edge / 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Single binary on minimal hardware</a:t>
            </a:r>
            <a:br/>
            <a:r>
              <a:t>10 MB footprint</a:t>
            </a:r>
            <a:br/>
            <a:r>
              <a:t>Air-gapped environments</a:t>
            </a:r>
            <a:br/>
            <a:r>
              <a:t>No JVM, no dependencies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Calibri"/>
              </a:defRPr>
            </a:pPr>
            <a:r>
              <a:t>SOC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REST API multi-tenant mode</a:t>
            </a:r>
            <a:br/>
            <a:r>
              <a:t>Kafka + SIEM integration</a:t>
            </a:r>
            <a:br/>
            <a:r>
              <a:t>Prometheus + Grafana</a:t>
            </a:r>
            <a:br/>
            <a:r>
              <a:t>Web UI for rule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Calibri"/>
              </a:defRPr>
            </a:pPr>
            <a:r>
              <a:t>Enterprise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Calibri"/>
              </a:defRPr>
            </a:pPr>
            <a:r>
              <a:t>Coordinator + N workers</a:t>
            </a:r>
            <a:br/>
            <a:r>
              <a:t>Horizontal scaling</a:t>
            </a:r>
            <a:br/>
            <a:r>
              <a:t>Kubernetes / Helm</a:t>
            </a:r>
            <a:br/>
            <a:r>
              <a:t>Checkpointing &amp; recovery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7724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13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OPERATIONAL 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Hot reload: update detection rules without restarting pipelines or losing events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6B35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State checkpointing: automatic recovery after restarts — no missed detections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Dwell time</a:t>
            </a:r>
            <a:br/>
            <a:r>
              <a:t>reduction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More evidence</a:t>
            </a:r>
            <a:br/>
            <a:r>
              <a:t>per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  <a:latin typeface="Calibri"/>
              </a:defRPr>
            </a:pPr>
            <a:r>
              <a:t>100×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Rule scaling</a:t>
            </a:r>
            <a:br/>
            <a:r>
              <a:t>throughput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15×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Memory savings</a:t>
            </a:r>
            <a:br/>
            <a:r>
              <a:t>vs legacy CEP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777240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02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BUSINESS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Breach cost reduction: detect in seconds, not days — containing damage early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SOC efficiency: automated kill-chain correlation replaces manual triage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Compliance: complete forensic evidence for incident response and audit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Infrastructure savings: 10–15× less memory = run detection at the edge, not just the cloud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6B35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Predictive forecasting: PST + Hawkes + conformal prediction for proactive threat alerting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Detect Faster. See Everything. Scale Effortlessly.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C4DE"/>
                </a:solidFill>
                <a:latin typeface="Calibri"/>
              </a:defRPr>
            </a:pPr>
            <a:r>
              <a:t>See Varpulis detect a live kill chain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demo.varpulis-cep.com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Calibri"/>
              </a:rPr>
              <a:t>VARPULIS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Appendix: Forecasting Engine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24688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201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PREDICTION SUFFIX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Variable-depth Markov model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Learns transition probabilities from the event stream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Adapts context depth to data — deeper only where statistically significant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Combined with SASE NFA to form Pattern Markov Chain (PMC)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51 ns per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51560"/>
            <a:ext cx="24688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201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HAWKES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3716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Self-exciting point process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Tracks temporal event density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When events burst (accelerate), intensity spikes → probability boost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O(1) per event via recursive formula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Online parameter estimation via EMA (~20 events to adapt)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51560"/>
            <a:ext cx="2468880" cy="25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201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Calibri"/>
              </a:rPr>
              <a:t>CONFORMAL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3716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Non-parametric prediction intervals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No distributional assumptions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Calibrated coverage guarantee (e.g. 90% of true values fall within bounds)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Based on past forecast outcomes — self-calibrating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B0C4DE"/>
                </a:solidFill>
                <a:latin typeface="Calibri"/>
              </a:rPr>
              <a:t>Tells you when predictions are reliable vs uncertain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787878"/>
                </a:solidFill>
                <a:latin typeface="Calibri"/>
              </a:rPr>
              <a:t>Reference: Complex Event Forecasting with Prediction Suffix Trees (Alevizos, Artikis, Paliouras — arXiv:2109.00287)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7772400" cy="54864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C4DE"/>
                </a:solidFill>
                <a:latin typeface="Calibri"/>
              </a:rPr>
              <a:t>Performance: PST training 4.6M events/s  |  Single prediction 51 ns  |  Full PMC forecast 10.8 µs/event  |  Online learning 5.4M updates/s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