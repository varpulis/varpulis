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  <p:sldId id="265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200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Real-Time Financial</a:t>
            </a:r>
            <a:br/>
            <a:r>
              <a:t>Event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C4DE"/>
                </a:solidFill>
                <a:latin typeface="Calibri"/>
              </a:defRPr>
            </a:pPr>
            <a:r>
              <a:t>Fraud Detection • Market Surveillance • Risk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7080"/>
                </a:solidFill>
                <a:latin typeface="Calibri"/>
              </a:defRPr>
            </a:pPr>
            <a:r>
              <a:t>Sub-millisecond pattern detection that catches what batch processing misses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Cost of Slow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C4DE"/>
                </a:solidFill>
                <a:latin typeface="Calibri"/>
              </a:defRPr>
            </a:pPr>
            <a:r>
              <a:t>Financial threats evolve faster than batch windows can detect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Card-testing attacks complete in seconds — 15-minute batch cycles miss 94% of attempts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Split-order accumulation evades single-threshold alerts across 50+ symbols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Greedy pattern matchers report one match per window — regulators need the complete trail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Legacy engines require 85–190 MB per pipeline — scaling to thousands of rules is cost-prohibitive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46320"/>
            <a:ext cx="7772400" cy="9144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4D8"/>
                </a:solidFill>
                <a:latin typeface="Calibri"/>
              </a:defRPr>
            </a:pPr>
            <a:r>
              <a:t>"Every undetected pattern is a regulatory finding waiting to happen.</a:t>
            </a:r>
            <a:br/>
            <a:r>
              <a:t>Every false negative is a fraud loss absorbed by the bottom line."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Complete Pattern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Most engines use greedy matching — they find the first pattern and stop.</a:t>
            </a:r>
            <a:br/>
            <a:r>
              <a:t>Varpulis uses SASE+ with full Kleene closure: every matching subsequence is captured.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4D8"/>
                </a:solidFill>
                <a:latin typeface="Calibri"/>
              </a:defRPr>
            </a:pPr>
            <a:r>
              <a:t>5×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More patterns</a:t>
            </a:r>
            <a:br/>
            <a:r>
              <a:t>detected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5603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26974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99,600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00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Matches found where</a:t>
            </a:r>
            <a:br/>
            <a:r>
              <a:t>others find 20,000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5603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0" y="26974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4D8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200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Forensic</a:t>
            </a:r>
            <a:br/>
            <a:r>
              <a:t>completeness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77724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0995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CARD TESTING ATTACK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8056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Traditional:  Alert on $1.00 charge → block card → miss the 47 prior test charges</a:t>
            </a:r>
            <a:br/>
            <a:r>
              <a:t>Varpulis:       Capture the entire sequence of micro-charges ($0.01–$2.00),</a:t>
            </a:r>
            <a:br/>
            <a:r>
              <a:t>                     flag the pattern after charge #3, collect all evidence through charge #48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100× Multi-Query Throughput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The Hamlet engine shares computation across overlapping queries —</a:t>
            </a:r>
            <a:br/>
            <a:r>
              <a:t>throughput scales sub-linearly as you add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772400" cy="36576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Concurrent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Varpulis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Scaling Advantage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7772400" cy="365760"/>
          </a:xfrm>
          <a:prstGeom prst="rect">
            <a:avLst/>
          </a:prstGeom>
          <a:solidFill>
            <a:srgbClr val="14283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6.9 M events/sec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A0"/>
                </a:solidFill>
                <a:latin typeface="Calibri"/>
              </a:defRPr>
            </a:pPr>
            <a:r>
              <a:t>3×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5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2.8 M events/sec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A0"/>
                </a:solidFill>
                <a:latin typeface="Calibri"/>
              </a:defRPr>
            </a:pPr>
            <a:r>
              <a:t>7×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74720"/>
            <a:ext cx="7772400" cy="365760"/>
          </a:xfrm>
          <a:prstGeom prst="rect">
            <a:avLst/>
          </a:prstGeom>
          <a:solidFill>
            <a:srgbClr val="14283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10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2.1 M events/sec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A0"/>
                </a:solidFill>
                <a:latin typeface="Calibri"/>
              </a:defRPr>
            </a:pPr>
            <a:r>
              <a:t>17×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50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950 K events/sec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5A0"/>
                </a:solidFill>
                <a:latin typeface="Calibri"/>
              </a:defRPr>
            </a:pPr>
            <a:r>
              <a:t>100× baseline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89120"/>
            <a:ext cx="77724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4653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WHAT THIS MEANS FOR SURVEILLANCE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4632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Monitor 50+ insider-trading patterns across all symbols on a single node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Add new SEC/MiFID II rules without provisioning additional infrastructure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One server replaces a cluster — 100× throughput advantage at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Sub-Millisecond Detection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4D8"/>
                </a:solidFill>
                <a:latin typeface="Calibri"/>
              </a:defRPr>
            </a:pPr>
            <a:r>
              <a:t>&lt; 1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Typical detection</a:t>
            </a:r>
            <a:br/>
            <a:r>
              <a:t>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&lt; 5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p99 worst case</a:t>
            </a:r>
            <a:br/>
            <a:r>
              <a:t>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46304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0" y="16002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4D8"/>
                </a:solidFill>
                <a:latin typeface="Calibri"/>
              </a:defRPr>
            </a:pPr>
            <a:r>
              <a:t>Zero GC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No garbage collection</a:t>
            </a:r>
            <a:br/>
            <a:r>
              <a:t>pauses — ever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260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Built in Rust with zero-copy event parsing and no garbage collector.</a:t>
            </a:r>
            <a:br/>
            <a:r>
              <a:t>Latency is deterministic — no stop-the-world pauses, no JVM warm-up, no tail-latency spikes.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77724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9166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WHY THIS MATTERS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Block fraudulent transactions before authorization completes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Detect wash trades within the same trading session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Alert on impossible-travel logins before the session is established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No GC pauses means no missed events during market volatility spikes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8× Memory Efficiency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C4DE"/>
                </a:solidFill>
                <a:latin typeface="Calibri"/>
              </a:defRPr>
            </a:pPr>
            <a:r>
              <a:t>Run more rules on fewer servers. Varpulis uses 3–16× less memory per pipeline.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772400" cy="36576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Workload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Varpulis RSS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7080"/>
                </a:solidFill>
                <a:latin typeface="Calibri"/>
              </a:defRPr>
            </a:pPr>
            <a:r>
              <a:t>Typical CEP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Real-time filter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560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A0"/>
                </a:solidFill>
                <a:latin typeface="Calibri"/>
              </a:defRPr>
            </a:pPr>
            <a:r>
              <a:t>10 MB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Calibri"/>
              </a:defRPr>
            </a:pPr>
            <a:r>
              <a:t>85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5603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8.5× 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07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Kleene pattern matching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A0"/>
                </a:solidFill>
                <a:latin typeface="Calibri"/>
              </a:defRPr>
            </a:pPr>
            <a:r>
              <a:t>24 MB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9077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Calibri"/>
              </a:defRPr>
            </a:pPr>
            <a:r>
              <a:t>124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9077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5× less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5526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Sequence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2552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A0"/>
                </a:solidFill>
                <a:latin typeface="Calibri"/>
              </a:defRPr>
            </a:pPr>
            <a:r>
              <a:t>10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2552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Calibri"/>
              </a:defRPr>
            </a:pPr>
            <a:r>
              <a:t>153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2552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15× less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0273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C4DE"/>
                </a:solidFill>
                <a:latin typeface="Calibri"/>
              </a:defRPr>
            </a:pPr>
            <a:r>
              <a:t>CPU-bound 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60273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5A0"/>
                </a:solidFill>
                <a:latin typeface="Calibri"/>
              </a:defRPr>
            </a:pPr>
            <a:r>
              <a:t>54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60273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7080"/>
                </a:solidFill>
                <a:latin typeface="Calibri"/>
              </a:defRPr>
            </a:pPr>
            <a:r>
              <a:t>166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6027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3× less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06240"/>
            <a:ext cx="77724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2824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INFRASTRUCTURE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6344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Deploy 10–15 fraud-detection pipelines on a single 256 MB container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Kubernetes HPA scales on real load, not memory bloat from idle JVM heaps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B4D8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Cloud cost reduction: fewer nodes, smaller instance types, same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Rules That Analysts Can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Declarative, Python-inspired syntax. Express complex fraud rules in 8 lines,</a:t>
            </a:r>
            <a:br/>
            <a:r>
              <a:t>not 47. Analysts can read and validate rules without engineering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772400" cy="27432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A9955"/>
                </a:solidFill>
                <a:latin typeface="Consolas"/>
                <a:cs typeface="Consolas"/>
              </a:rPr>
              <a:t>// Account takeover: login → password change → large purchase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/>
                <a:cs typeface="Consolas"/>
              </a:rPr>
              <a:t>stream AccountTakeover =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/>
                <a:cs typeface="Consolas"/>
              </a:rPr>
              <a:t>    SEQ(Login l, PasswordChange pc, Purchase p+)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CDBFE"/>
                </a:solidFill>
                <a:latin typeface="Consolas"/>
                <a:cs typeface="Consolas"/>
              </a:rPr>
              <a:t>    .where(l.user_id == pc.user_id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C586C0"/>
                </a:solidFill>
                <a:latin typeface="Consolas"/>
                <a:cs typeface="Consolas"/>
              </a:rPr>
              <a:t>       and pc.user_id == p.user_id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C586C0"/>
                </a:solidFill>
                <a:latin typeface="Consolas"/>
                <a:cs typeface="Consolas"/>
              </a:rPr>
              <a:t>       and p.amount &gt; 500.0)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CDBFE"/>
                </a:solidFill>
                <a:latin typeface="Consolas"/>
                <a:cs typeface="Consolas"/>
              </a:rPr>
              <a:t>    .within(30m)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CDBFE"/>
                </a:solidFill>
                <a:latin typeface="Consolas"/>
                <a:cs typeface="Consolas"/>
              </a:rPr>
              <a:t>    .forecast(confidence: 0.8, horizon: 5m, warmup: 500)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CDBFE"/>
                </a:solidFill>
                <a:latin typeface="Consolas"/>
                <a:cs typeface="Consolas"/>
              </a:rPr>
              <a:t>    .where(forecast_probability &gt; 0.85)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CDBFE"/>
                </a:solidFill>
                <a:latin typeface="Consolas"/>
                <a:cs typeface="Consolas"/>
              </a:rPr>
              <a:t>    .emit(user: l.user_id, total: sum(p.amount),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CED4DA"/>
                </a:solidFill>
                <a:latin typeface="Consolas"/>
                <a:cs typeface="Consolas"/>
              </a:rPr>
              <a:t>          purchases: count(p), risk: "critical")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CDBFE"/>
                </a:solidFill>
                <a:latin typeface="Consolas"/>
                <a:cs typeface="Consolas"/>
              </a:rPr>
              <a:t>    .to(FraudAlerts)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Full Kleene closure (p+) captures every matching purchase, not just the first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Temporal constraint (.within) enforced at the engine level — no timer hacks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Direct-to-sink routing — no glue code, no message bus boilerplate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4D8"/>
                </a:solidFill>
                <a:latin typeface="Calibri"/>
              </a:rPr>
              <a:t>VARPULIS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21424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Block Fraud Before the Final Transaction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B0C4DE"/>
                </a:solidFill>
                <a:latin typeface="Calibri"/>
              </a:rPr>
              <a:t>Instead of alerting after a fraud pattern completes, Varpulis predicts
the probability of completion while the pattern is still in progress —
enabling pre-emptive holds, not post-mortem investigation.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20"/>
            <a:ext cx="77724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431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  <a:latin typeface="Calibri"/>
              </a:rPr>
              <a:t>EXAMPLE: CARD TESTING ATTACK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1828800" cy="59436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$0.01 charge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CAF50"/>
                </a:solidFill>
                <a:latin typeface="Calibri"/>
              </a:rPr>
              <a:t>p = 0.12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3774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B0C4DE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2194560"/>
            <a:ext cx="1828800" cy="59436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51760" y="2240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$0.50 charge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Calibri"/>
              </a:rPr>
              <a:t>p = 0.38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3774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B0C4DE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194560"/>
            <a:ext cx="1828800" cy="59436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2240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$1.99 charge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6B35"/>
                </a:solidFill>
                <a:latin typeface="Calibri"/>
              </a:rPr>
              <a:t>p = 0.91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3774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B0C4DE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194560"/>
            <a:ext cx="1828800" cy="594360"/>
          </a:xfrm>
          <a:prstGeom prst="rect">
            <a:avLst/>
          </a:prstGeom>
          <a:solidFill>
            <a:srgbClr val="2A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2240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$4,500 purchase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5603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44336"/>
                </a:solidFill>
                <a:latin typeface="Calibri"/>
              </a:rPr>
              <a:t>BLOCKED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3240"/>
            <a:ext cx="384048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31394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  <a:latin typeface="Calibri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The engine learns normal and fraudulent transaction sequences from your live data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After seeing the first events, it calculates: how likely is this pattern to complete?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You set the threshold — e.g. hold the card when probability exceeds 85%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No pre-training, no ML pipeline — starts learning from day 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3063240"/>
            <a:ext cx="393192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0" y="31394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35"/>
                </a:solidFill>
                <a:latin typeface="Calibri"/>
              </a:rPr>
              <a:t>BUSINESS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832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Pre-emptive holds: block the $4,500 purchase, not just detect it afterward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Reduce false positives: probability scoring replaces binary rules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Confidence levels tell you when the forecast is reliable vs uncertain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Adapts to evolving fraud tactics — no manual model updates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36947"/>
            <a:ext cx="7772400" cy="6400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5402333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dirty="0">
                <a:solidFill>
                  <a:srgbClr val="B0C4DE"/>
                </a:solidFill>
                <a:latin typeface="Calibri"/>
              </a:rPr>
              <a:t>One line in your detection rule enables forecasting:   .forecast(confidence: 0.8, horizon: 5m)
The engine does the rest — learning, predicting, and scoring — all in real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Production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Production-grade deployment with built-in observability and horizontal scaling.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57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87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DEPLOYMENT 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Single binary CLI (dev / edge)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REST API server (multi-tenant SaaS)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Distributed cluster (coordinator + workers)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Docker / Kubernetes / Helm chart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011680"/>
            <a:ext cx="3657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2087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688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Kafka, MQTT (input + output)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AWS Kinesis, S3 (cloud-native)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PostgreSQL, MySQL, Redis, Elasticsearch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HTTP webhooks, console (debug)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89120"/>
            <a:ext cx="77724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4653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OBSERVABILITY &amp;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4632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Prometheus metrics (throughput, latency histograms, pattern counts)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Pre-built Grafana dashboards — deploy and monitor in minutes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Web UI: Monaco editor with syntax validation, live event testing, cluster topology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B4D8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Hot reload — update rules without pipeline restart or event loss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Return on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4D8"/>
                </a:solidFill>
                <a:latin typeface="Calibri"/>
              </a:defRPr>
            </a:pPr>
            <a:r>
              <a:t>5×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More fraud</a:t>
            </a:r>
            <a:br/>
            <a:r>
              <a:t>patterns caught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6888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100×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Surveillance rule</a:t>
            </a:r>
            <a:br/>
            <a:r>
              <a:t>scaling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B4D8"/>
                </a:solidFill>
                <a:latin typeface="Calibri"/>
              </a:defRPr>
            </a:pPr>
            <a:r>
              <a:t>&lt; 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Detection</a:t>
            </a:r>
            <a:br/>
            <a:r>
              <a:t>latency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8×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Less memory</a:t>
            </a:r>
            <a:br/>
            <a:r>
              <a:t>per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77724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0022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BUSINESS 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Fraud losses reduced: catch card-testing attacks in-flight, not post-mortem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Regulatory confidence: complete forensic evidence for every detected pattern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Infrastructure savings: 3–16× memory reduction = fewer nodes, lower cloud spend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Faster time-to-rule: analysts author and validate rules in plain-English syntax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B4D8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Predictive: PST + Hawkes + conformal forecasting for proactive alerting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Detect More. Respond Faster. Spend Less.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C4DE"/>
                </a:solidFill>
                <a:latin typeface="Calibri"/>
              </a:defRPr>
            </a:pPr>
            <a:r>
              <a:t>See Varpulis in action with your own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4D8"/>
                </a:solidFill>
                <a:latin typeface="Calibri"/>
              </a:defRPr>
            </a:pPr>
            <a:r>
              <a:t>demo.varpulis-cep.com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4D8"/>
                </a:solidFill>
                <a:latin typeface="Calibri"/>
              </a:rPr>
              <a:t>VARPULIS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21424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Appendix: Forecasting Engine Deep 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246888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1201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  <a:latin typeface="Calibri"/>
              </a:rPr>
              <a:t>PREDICTION SUFFIX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Variable-depth Markov model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Learns transition probabilities from the event stream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Adapts context depth to data — deeper only where statistically significant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Combined with SASE NFA to form Pattern Markov Chain (PMC)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51 ns per prediction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051560"/>
            <a:ext cx="246888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1201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  <a:latin typeface="Calibri"/>
              </a:rPr>
              <a:t>HAWKES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7160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Self-exciting point process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Tracks temporal event density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When events burst (accelerate), intensity spikes → probability boost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O(1) per event via recursive formula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Online parameter estimation via EMA (~20 events to adapt)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051560"/>
            <a:ext cx="246888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0" y="11201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35"/>
                </a:solidFill>
                <a:latin typeface="Calibri"/>
              </a:rPr>
              <a:t>CONFORMAL 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37160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Non-parametric prediction intervals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No distributional assumptions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Calibrated coverage guarantee (e.g. 90% of true values fall within bounds)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Based on past forecast outcomes — self-calibrating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B0C4DE"/>
                </a:solidFill>
                <a:latin typeface="Calibri"/>
              </a:rPr>
              <a:t>Tells you when predictions are reliable vs uncertain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864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i="1">
                <a:solidFill>
                  <a:srgbClr val="787878"/>
                </a:solidFill>
                <a:latin typeface="Calibri"/>
              </a:rPr>
              <a:t>Reference: Complex Event Forecasting with Prediction Suffix Trees (Alevizos, Artikis, Paliouras — arXiv:2109.00287)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52160"/>
            <a:ext cx="7772400" cy="54864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89788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B0C4DE"/>
                </a:solidFill>
                <a:latin typeface="Calibri"/>
              </a:rPr>
              <a:t>Performance: PST training 4.6M events/s  |  Single prediction 51 ns  |  Full PMC forecast 10.8 µs/event  |  Online learning 5.4M updates/s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1416</Words>
  <Application>Microsoft Office PowerPoint</Application>
  <PresentationFormat>Affichage à l'écran (4:3)</PresentationFormat>
  <Paragraphs>189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Cyril PODER</cp:lastModifiedBy>
  <cp:revision>2</cp:revision>
  <dcterms:created xsi:type="dcterms:W3CDTF">2013-01-27T09:14:16Z</dcterms:created>
  <dcterms:modified xsi:type="dcterms:W3CDTF">2026-02-16T00:29:56Z</dcterms:modified>
  <cp:category/>
</cp:coreProperties>
</file>