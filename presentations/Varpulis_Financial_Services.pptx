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Real-Time Financial</a:t>
            </a:r>
            <a:br/>
            <a:r>
              <a:t>Event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C4DE"/>
                </a:solidFill>
                <a:latin typeface="Calibri"/>
              </a:defRPr>
            </a:pPr>
            <a:r>
              <a:t>Fraud Detection • Market Surveillance • Risk Monitoring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607080"/>
                </a:solidFill>
                <a:latin typeface="Calibri"/>
              </a:defRPr>
            </a:pPr>
            <a:r>
              <a:t>Sub-millisecond pattern detection that catches what batch processing misses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The Cost of Slow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C4DE"/>
                </a:solidFill>
                <a:latin typeface="Calibri"/>
              </a:defRPr>
            </a:pPr>
            <a:r>
              <a:t>Financial threats evolve faster than batch windows can detect them.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7772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0B4D8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Card-testing attacks complete in seconds — 15-minute batch cycles miss 94% of attempts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B4D8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Split-order accumulation evades single-threshold alerts across 50+ symbols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B4D8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Greedy pattern matchers report one match per window — regulators need the complete trail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B4D8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Legacy engines require 85–190 MB per pipeline — scaling to thousands of rules is cost-prohibitive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846320"/>
            <a:ext cx="7772400" cy="91440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937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B4D8"/>
                </a:solidFill>
                <a:latin typeface="Calibri"/>
              </a:defRPr>
            </a:pPr>
            <a:r>
              <a:t>"Every undetected pattern is a regulatory finding waiting to happen.</a:t>
            </a:r>
            <a:br/>
            <a:r>
              <a:t>Every false negative is a fraud loss absorbed by the bottom line."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Complete Pattern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Most engines use greedy matching — they find the first pattern and stop.</a:t>
            </a:r>
            <a:br/>
            <a:r>
              <a:t>Varpulis uses SASE+ with full Kleene closure: every matching subsequence is captured.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560320"/>
            <a:ext cx="246888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4D8"/>
                </a:solidFill>
                <a:latin typeface="Calibri"/>
              </a:defRPr>
            </a:pPr>
            <a:r>
              <a:t>5×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More patterns</a:t>
            </a:r>
            <a:br/>
            <a:r>
              <a:t>detected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2560320"/>
            <a:ext cx="246888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26974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A0"/>
                </a:solidFill>
                <a:latin typeface="Calibri"/>
              </a:defRPr>
            </a:pPr>
            <a:r>
              <a:t>99,600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Matches found where</a:t>
            </a:r>
            <a:br/>
            <a:r>
              <a:t>others find 20,000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35040" y="2560320"/>
            <a:ext cx="246888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269748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4D8"/>
                </a:solidFill>
                <a:latin typeface="Calibri"/>
              </a:defRPr>
            </a:pPr>
            <a:r>
              <a:t>100%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3200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Forensic</a:t>
            </a:r>
            <a:br/>
            <a:r>
              <a:t>completeness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23360"/>
            <a:ext cx="77724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09956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CARD TESTING ATTACK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48056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Traditional:  Alert on $1.00 charge → block card → miss the 47 prior test charges</a:t>
            </a:r>
            <a:br/>
            <a:r>
              <a:t>Varpulis:       Capture the entire sequence of micro-charges ($0.01–$2.00),</a:t>
            </a:r>
            <a:br/>
            <a:r>
              <a:t>                     flag the pattern after charge #3, collect all evidence through charge #48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100× Multi-Query Throughput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The Hamlet engine shares computation across overlapping queries —</a:t>
            </a:r>
            <a:br/>
            <a:r>
              <a:t>throughput scales sub-linearly as you add rules.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7772400" cy="36576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Concurrent Rules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Varpulis Throughput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Scaling Advantage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43200"/>
            <a:ext cx="7772400" cy="365760"/>
          </a:xfrm>
          <a:prstGeom prst="rect">
            <a:avLst/>
          </a:prstGeom>
          <a:solidFill>
            <a:srgbClr val="14283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 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6.9 M events/sec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A0"/>
                </a:solidFill>
                <a:latin typeface="Calibri"/>
              </a:defRPr>
            </a:pPr>
            <a:r>
              <a:t>3× baseline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5 rules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2.8 M events/sec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1089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A0"/>
                </a:solidFill>
                <a:latin typeface="Calibri"/>
              </a:defRPr>
            </a:pPr>
            <a:r>
              <a:t>7× baseline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474720"/>
            <a:ext cx="7772400" cy="365760"/>
          </a:xfrm>
          <a:prstGeom prst="rect">
            <a:avLst/>
          </a:prstGeom>
          <a:solidFill>
            <a:srgbClr val="14283C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10 rules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2.1 M events/sec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34747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A0"/>
                </a:solidFill>
                <a:latin typeface="Calibri"/>
              </a:defRPr>
            </a:pPr>
            <a:r>
              <a:t>17× baseline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50 rules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950 K events/sec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0" y="384048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5A0"/>
                </a:solidFill>
                <a:latin typeface="Calibri"/>
              </a:defRPr>
            </a:pPr>
            <a:r>
              <a:t>100× baseline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389120"/>
            <a:ext cx="77724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4653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WHAT THIS MEANS FOR SURVEILLANCE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846320"/>
            <a:ext cx="7772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0C4DE"/>
                </a:solidFill>
                <a:latin typeface="Calibri"/>
              </a:rPr>
              <a:t>Monitor 50+ insider-trading patterns across all symbols on a single node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0C4DE"/>
                </a:solidFill>
                <a:latin typeface="Calibri"/>
              </a:rPr>
              <a:t>Add new SEC/MiFID II rules without provisioning additional infrastructure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0C4DE"/>
                </a:solidFill>
                <a:latin typeface="Calibri"/>
              </a:rPr>
              <a:t>One server replaces a cluster — 100× throughput advantage at 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Sub-Millisecond Detection Latency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246888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4D8"/>
                </a:solidFill>
                <a:latin typeface="Calibri"/>
              </a:defRPr>
            </a:pPr>
            <a:r>
              <a:t>&lt; 1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Typical detection</a:t>
            </a:r>
            <a:br/>
            <a:r>
              <a:t>latency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3291840" y="1463040"/>
            <a:ext cx="246888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91840" y="1600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A0"/>
                </a:solidFill>
                <a:latin typeface="Calibri"/>
              </a:defRPr>
            </a:pPr>
            <a:r>
              <a:t>&lt; 5 ms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p99 worst case</a:t>
            </a:r>
            <a:br/>
            <a:r>
              <a:t>latency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463040"/>
            <a:ext cx="246888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600200"/>
            <a:ext cx="2468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4D8"/>
                </a:solidFill>
                <a:latin typeface="Calibri"/>
              </a:defRPr>
            </a:pPr>
            <a:r>
              <a:t>Zero GC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103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No garbage collection</a:t>
            </a:r>
            <a:br/>
            <a:r>
              <a:t>pauses — ever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92608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Built in Rust with zero-copy event parsing and no garbage collector.</a:t>
            </a:r>
            <a:br/>
            <a:r>
              <a:t>Latency is deterministic — no stop-the-world pauses, no JVM warm-up, no tail-latency spikes.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40480"/>
            <a:ext cx="77724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9166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WHY THIS MATTERS IN FINANCE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97680"/>
            <a:ext cx="7772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0C4DE"/>
                </a:solidFill>
                <a:latin typeface="Calibri"/>
              </a:rPr>
              <a:t>Block fraudulent transactions before authorization completes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0C4DE"/>
                </a:solidFill>
                <a:latin typeface="Calibri"/>
              </a:rPr>
              <a:t>Detect wash trades within the same trading session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0C4DE"/>
                </a:solidFill>
                <a:latin typeface="Calibri"/>
              </a:rPr>
              <a:t>Alert on impossible-travel logins before the session is established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0C4DE"/>
                </a:solidFill>
                <a:latin typeface="Calibri"/>
              </a:rPr>
              <a:t>No GC pauses means no missed events during market volatility spikes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8× Memory Efficiency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0C4DE"/>
                </a:solidFill>
                <a:latin typeface="Calibri"/>
              </a:defRPr>
            </a:pPr>
            <a:r>
              <a:t>Run more rules on fewer servers. Varpulis uses 3–16× less memory per pipeline.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03120"/>
            <a:ext cx="7772400" cy="36576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Workload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Varpulis RSS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21031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7080"/>
                </a:solidFill>
                <a:latin typeface="Calibri"/>
              </a:defRPr>
            </a:pPr>
            <a:r>
              <a:t>Typical CEP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56032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Real-time filter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5603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5A0"/>
                </a:solidFill>
                <a:latin typeface="Calibri"/>
              </a:defRPr>
            </a:pPr>
            <a:r>
              <a:t>10 MB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56032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Calibri"/>
              </a:defRPr>
            </a:pPr>
            <a:r>
              <a:t>85 MB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2560320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8.5× less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2907792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Kleene pattern matching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07792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5A0"/>
                </a:solidFill>
                <a:latin typeface="Calibri"/>
              </a:defRPr>
            </a:pPr>
            <a:r>
              <a:t>24 MB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9077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Calibri"/>
              </a:defRPr>
            </a:pPr>
            <a:r>
              <a:t>124 MB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23760" y="2907792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5× less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3255264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Sequence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255264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5A0"/>
                </a:solidFill>
                <a:latin typeface="Calibri"/>
              </a:defRPr>
            </a:pPr>
            <a:r>
              <a:t>10 MB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0" y="325526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Calibri"/>
              </a:defRPr>
            </a:pPr>
            <a:r>
              <a:t>153 MB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3255264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15× less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6027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0C4DE"/>
                </a:solidFill>
                <a:latin typeface="Calibri"/>
              </a:defRPr>
            </a:pPr>
            <a:r>
              <a:t>CPU-bound analytics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602736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E5A0"/>
                </a:solidFill>
                <a:latin typeface="Calibri"/>
              </a:defRPr>
            </a:pPr>
            <a:r>
              <a:t>54 MB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0" y="360273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607080"/>
                </a:solidFill>
                <a:latin typeface="Calibri"/>
              </a:defRPr>
            </a:pPr>
            <a:r>
              <a:t>166 MB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23760" y="3602736"/>
            <a:ext cx="1097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0B4D8"/>
                </a:solidFill>
                <a:latin typeface="Calibri"/>
              </a:defRPr>
            </a:pPr>
            <a:r>
              <a:t>3× less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206240"/>
            <a:ext cx="77724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2824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INFRASTRUCTURE IMPACT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66344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0C4DE"/>
                </a:solidFill>
                <a:latin typeface="Calibri"/>
              </a:rPr>
              <a:t>Deploy 10–15 fraud-detection pipelines on a single 256 MB container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0C4DE"/>
                </a:solidFill>
                <a:latin typeface="Calibri"/>
              </a:rPr>
              <a:t>Kubernetes HPA scales on real load, not memory bloat from idle JVM heaps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00B4D8"/>
                </a:solidFill>
                <a:latin typeface="Calibri"/>
              </a:rPr>
              <a:t>▸ </a:t>
            </a:r>
            <a:r>
              <a:rPr sz="1400">
                <a:solidFill>
                  <a:srgbClr val="B0C4DE"/>
                </a:solidFill>
                <a:latin typeface="Calibri"/>
              </a:rPr>
              <a:t>Cloud cost reduction: fewer nodes, smaller instance types, same coverage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Rules That Analysts Can Read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Declarative, Python-inspired syntax. Express complex fraud rules in 8 lines,</a:t>
            </a:r>
            <a:br/>
            <a:r>
              <a:t>not 47. Analysts can read and validate rules without engineering support.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7772400" cy="274320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377440"/>
            <a:ext cx="7772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E5A0"/>
                </a:solidFill>
                <a:latin typeface="Consolas"/>
              </a:defRPr>
            </a:pPr>
            <a:r>
              <a:t>  // Account takeover: login → password change → large purchase within 30 min</a:t>
            </a:r>
            <a:br/>
            <a:r>
              <a:t>  stream AccountTakeover =</a:t>
            </a:r>
            <a:br/>
            <a:r>
              <a:t>      SEQ(Login l, PasswordChange pc, Purchase p+)</a:t>
            </a:r>
            <a:br/>
            <a:r>
              <a:t>      .where(l.user_id == pc.user_id &amp;&amp; pc.user_id == p.user_id)</a:t>
            </a:r>
            <a:br/>
            <a:r>
              <a:t>      .where(p.amount &gt; 500.0)</a:t>
            </a:r>
            <a:br/>
            <a:r>
              <a:t>      .within(30m)</a:t>
            </a:r>
            <a:br/>
            <a:r>
              <a:t>      .emit(user: l.user_id, total: sum(p.amount),</a:t>
            </a:r>
            <a:br/>
            <a:r>
              <a:t>            purchases: count(p), risk: "critical")</a:t>
            </a:r>
            <a:br/>
            <a:r>
              <a:t>      .to(FraudAlerts)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3035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B4D8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Full Kleene closure (p+) captures every matching purchase, not just the first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B4D8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Temporal constraint (.within) enforced at the engine level — no timer hacks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B4D8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Direct-to-sink routing — no glue code, no message bus boilerplate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Production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0C4DE"/>
                </a:solidFill>
                <a:latin typeface="Calibri"/>
              </a:defRPr>
            </a:pPr>
            <a:r>
              <a:t>Production-grade deployment with built-in observability and horizontal scaling.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3657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87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DEPLOYMENT OPTIONS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688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B4D8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Single binary CLI (dev / edge)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B4D8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REST API server (multi-tenant SaaS)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B4D8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Distributed cluster (coordinator + workers)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B4D8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Docker / Kubernetes / Helm chart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2011680"/>
            <a:ext cx="3657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208788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CONNECTORS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468880"/>
            <a:ext cx="39319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B4D8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Kafka, MQTT (input + output)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B4D8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AWS Kinesis, S3 (cloud-native)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B4D8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PostgreSQL, MySQL, Redis, Elasticsearch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B4D8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HTTP webhooks, console (debug)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389120"/>
            <a:ext cx="77724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46532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OBSERVABILITY &amp; OPERATIONS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4846320"/>
            <a:ext cx="7772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00B4D8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Prometheus metrics (throughput, latency histograms, pattern counts)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B4D8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Pre-built Grafana dashboards — deploy and monitor in minutes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B4D8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Web UI: Monaco editor with syntax validation, live event testing, cluster topology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00B4D8"/>
                </a:solidFill>
                <a:latin typeface="Calibri"/>
              </a:rPr>
              <a:t>▸ </a:t>
            </a:r>
            <a:r>
              <a:rPr sz="1300">
                <a:solidFill>
                  <a:srgbClr val="B0C4DE"/>
                </a:solidFill>
                <a:latin typeface="Calibri"/>
              </a:rPr>
              <a:t>Hot reload — update rules without pipeline restart or event loss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Return on Investment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51560"/>
            <a:ext cx="13716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63040"/>
            <a:ext cx="201168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600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4D8"/>
                </a:solidFill>
                <a:latin typeface="Calibri"/>
              </a:defRPr>
            </a:pPr>
            <a:r>
              <a:t>5×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More fraud</a:t>
            </a:r>
            <a:br/>
            <a:r>
              <a:t>patterns caught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0" y="1463040"/>
            <a:ext cx="201168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1600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A0"/>
                </a:solidFill>
                <a:latin typeface="Calibri"/>
              </a:defRPr>
            </a:pPr>
            <a:r>
              <a:t>100×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Surveillance rule</a:t>
            </a:r>
            <a:br/>
            <a:r>
              <a:t>scaling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463040"/>
            <a:ext cx="201168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63440" y="1600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B4D8"/>
                </a:solidFill>
                <a:latin typeface="Calibri"/>
              </a:defRPr>
            </a:pPr>
            <a:r>
              <a:t>&lt; 1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Detection</a:t>
            </a:r>
            <a:br/>
            <a:r>
              <a:t>latency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1463040"/>
            <a:ext cx="2011680" cy="1097280"/>
          </a:xfrm>
          <a:prstGeom prst="rect">
            <a:avLst/>
          </a:prstGeom>
          <a:solidFill>
            <a:srgbClr val="142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600200"/>
            <a:ext cx="2011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5A0"/>
                </a:solidFill>
                <a:latin typeface="Calibri"/>
              </a:defRPr>
            </a:pPr>
            <a:r>
              <a:t>8×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21031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B0C4DE"/>
                </a:solidFill>
                <a:latin typeface="Calibri"/>
              </a:defRPr>
            </a:pPr>
            <a:r>
              <a:t>Less memory</a:t>
            </a:r>
            <a:br/>
            <a:r>
              <a:t>per pipeline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926080"/>
            <a:ext cx="7772400" cy="25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0022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B4D8"/>
                </a:solidFill>
                <a:latin typeface="Calibri"/>
              </a:defRPr>
            </a:pPr>
            <a:r>
              <a:t>BUSINESS OUTCOMES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383280"/>
            <a:ext cx="7772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00B4D8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Fraud losses reduced: catch card-testing attacks in-flight, not post-mortem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B4D8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Regulatory confidence: complete forensic evidence for every detected pattern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B4D8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Infrastructure savings: 3–16× memory reduction = fewer nodes, lower cloud spend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B4D8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Faster time-to-rule: analysts author and validate rules in plain-English syntax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00B4D8"/>
                </a:solidFill>
                <a:latin typeface="Calibri"/>
              </a:rPr>
              <a:t>▸ </a:t>
            </a:r>
            <a:r>
              <a:rPr sz="1500">
                <a:solidFill>
                  <a:srgbClr val="B0C4DE"/>
                </a:solidFill>
                <a:latin typeface="Calibri"/>
              </a:rPr>
              <a:t>Future-proof: add MiFID II, Dodd-Frank, or custom rules without re-architecture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B4D8"/>
                </a:solidFill>
                <a:latin typeface="Calibri"/>
              </a:defRPr>
            </a:pPr>
            <a:r>
              <a:t>VARPULIS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286000"/>
            <a:ext cx="7772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Detect More. Respond Faster. Spend Less.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004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0C4DE"/>
                </a:solidFill>
                <a:latin typeface="Calibri"/>
              </a:defRPr>
            </a:pPr>
            <a:r>
              <a:t>See Varpulis in action with your own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B4D8"/>
                </a:solidFill>
                <a:latin typeface="Calibri"/>
              </a:defRPr>
            </a:pPr>
            <a:r>
              <a:t>demo.varpulis-cep.com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803136"/>
            <a:ext cx="914400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