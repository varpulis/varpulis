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Real-Time Patient</a:t>
            </a:r>
            <a:br/>
            <a:r>
              <a:t>Safety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C4DE"/>
                </a:solidFill>
                <a:latin typeface="Calibri"/>
              </a:defRPr>
            </a:pPr>
            <a:r>
              <a:t>Drug Interactions • Vital Sign Deterioration • Dosage Anomalies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7080"/>
                </a:solidFill>
                <a:latin typeface="Calibri"/>
              </a:defRPr>
            </a:pPr>
            <a:r>
              <a:t>Sub-millisecond alerts before medication is administered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Patient Safety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C4DE"/>
                </a:solidFill>
                <a:latin typeface="Calibri"/>
              </a:defRPr>
            </a:pPr>
            <a:r>
              <a:t>Adverse drug events affect 2+ million patients annually.</a:t>
            </a:r>
            <a:br/>
            <a:r>
              <a:t>Batch analytics detect problems after harm has occurred.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Drug interactions span multiple prescribers, pharmacies, and EHR systems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15-minute batch windows are too slow — medication is administered in seconds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Vital sign deterioration patterns unfold over hours, invisible to threshold alerts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Single-event alerts cause alarm fatigue; clinicians need correlated, sequenced context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Legacy CEP engines require 85–190 MB per rule — prohibitive for bedside deployment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029200"/>
            <a:ext cx="7772400" cy="7315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C9A7"/>
                </a:solidFill>
                <a:latin typeface="Calibri"/>
              </a:defRPr>
            </a:pPr>
            <a:r>
              <a:t>"The window between prescription and administration is often minutes.</a:t>
            </a:r>
            <a:br/>
            <a:r>
              <a:t>A 15-minute batch cycle means the alert arrives after the patient has been harmed."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Cross-Prescriber Drug Interaction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Detect dangerous drug interactions across prescribers, departments,</a:t>
            </a:r>
            <a:br/>
            <a:r>
              <a:t>and time windows — before the medication reaches the patient.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7772400" cy="237744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772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C9A7"/>
                </a:solidFill>
                <a:latin typeface="Consolas"/>
              </a:defRPr>
            </a:pPr>
            <a:r>
              <a:t>  // Dangerous cross-prescriber drug interaction</a:t>
            </a:r>
            <a:br/>
            <a:r>
              <a:t>  stream DrugInteraction =</a:t>
            </a:r>
            <a:br/>
            <a:r>
              <a:t>      SEQ(Prescription rx1, Prescription rx2)</a:t>
            </a:r>
            <a:br/>
            <a:r>
              <a:t>      .where(rx1.patient_id == rx2.patient_id)</a:t>
            </a:r>
            <a:br/>
            <a:r>
              <a:t>      .where(rx1.prescriber != rx2.prescriber)</a:t>
            </a:r>
            <a:br/>
            <a:r>
              <a:t>      .where(is_contraindicated(rx1.drug, rx2.drug))</a:t>
            </a:r>
            <a:br/>
            <a:r>
              <a:t>      .within(24h)</a:t>
            </a:r>
            <a:br/>
            <a:r>
              <a:t>      .emit(patient: rx1.patient_id, drug_a: rx1.drug,</a:t>
            </a:r>
            <a:br/>
            <a:r>
              <a:t>            drug_b: rx2.drug, severity: interaction_severity(rx1.drug, rx2.drug))</a:t>
            </a:r>
            <a:br/>
            <a:r>
              <a:t>      .to(ClinicalAlerts, PharmacyReview)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9834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9A7"/>
                </a:solidFill>
                <a:latin typeface="Calibri"/>
              </a:defRPr>
            </a:pPr>
            <a:r>
              <a:t>&lt; 1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Alert before</a:t>
            </a:r>
            <a:br/>
            <a:r>
              <a:t>administration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84632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49834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45EF7"/>
                </a:solidFill>
                <a:latin typeface="Calibri"/>
              </a:defRPr>
            </a:pPr>
            <a:r>
              <a:t>24h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Cross-prescriber</a:t>
            </a:r>
            <a:br/>
            <a:r>
              <a:t>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84632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49834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9A7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Interaction pairs</a:t>
            </a:r>
            <a:br/>
            <a:r>
              <a:t>detected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Vital Sign Deterioration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Detect deterioration trends that threshold alerts miss.</a:t>
            </a:r>
            <a:br/>
            <a:r>
              <a:t>Kleene closure captures the full trajectory, not just the breach point.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7772400" cy="219456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C9A7"/>
                </a:solidFill>
                <a:latin typeface="Consolas"/>
              </a:defRPr>
            </a:pPr>
            <a:r>
              <a:t>  // Gradual vital sign deterioration (early warning score)</a:t>
            </a:r>
            <a:br/>
            <a:r>
              <a:t>  stream Deterioration =</a:t>
            </a:r>
            <a:br/>
            <a:r>
              <a:t>      SEQ(Vitals v1, Vitals declining+, Vitals critical)</a:t>
            </a:r>
            <a:br/>
            <a:r>
              <a:t>      .where(v1.patient_id == declining.patient_id)</a:t>
            </a:r>
            <a:br/>
            <a:r>
              <a:t>      .where(declining.hr &gt; v1.hr * 1.1 || declining.spo2 &lt; v1.spo2 - 2)</a:t>
            </a:r>
            <a:br/>
            <a:r>
              <a:t>      .where(critical.news_score &gt;= 7)</a:t>
            </a:r>
            <a:br/>
            <a:r>
              <a:t>      .within(6h)</a:t>
            </a:r>
            <a:br/>
            <a:r>
              <a:t>      .emit(patient: v1.patient_id, trend_readings: count(declining),</a:t>
            </a:r>
            <a:br/>
            <a:r>
              <a:t>            rate_of_change: avg(declining.hr) - v1.hr,</a:t>
            </a:r>
            <a:br/>
            <a:r>
              <a:t>            hours_declining: duration(v1, critical))</a:t>
            </a:r>
            <a:br/>
            <a:r>
              <a:t>      .to(RapidResponse)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C9A7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declining+ captures every worsening reading — shows the complete trajectory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C9A7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Rate-of-change analysis: alerts on trends, not just thresholds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C9A7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Temporal context: clinicians see hours of data, not a single alarm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C9A7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Reduces alarm fatigue: one correlated alert replaces dozens of threshold breaches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From Alarm Fatigue to Clinical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Full Kleene closure means every matching event is captured — </a:t>
            </a:r>
            <a:br/>
            <a:r>
              <a:t>critical for clinical evidence and root cause analysis.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3657600" cy="25603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7080"/>
                </a:solidFill>
                <a:latin typeface="Calibri"/>
              </a:defRPr>
            </a:pPr>
            <a:r>
              <a:t>THRESHOLD ALERTING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607080"/>
                </a:solidFill>
                <a:latin typeface="Calibri"/>
              </a:rPr>
              <a:t>▸ </a:t>
            </a:r>
            <a:r>
              <a:rPr sz="1300">
                <a:solidFill>
                  <a:srgbClr val="607080"/>
                </a:solidFill>
                <a:latin typeface="Calibri"/>
              </a:rPr>
              <a:t>HR &gt; 120 → alert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07080"/>
                </a:solidFill>
                <a:latin typeface="Calibri"/>
              </a:rPr>
              <a:t>▸ </a:t>
            </a:r>
            <a:r>
              <a:rPr sz="1300">
                <a:solidFill>
                  <a:srgbClr val="607080"/>
                </a:solidFill>
                <a:latin typeface="Calibri"/>
              </a:rPr>
              <a:t>SpO2 &lt; 90 → alert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07080"/>
                </a:solidFill>
                <a:latin typeface="Calibri"/>
              </a:rPr>
              <a:t>▸ </a:t>
            </a:r>
            <a:r>
              <a:rPr sz="1300">
                <a:solidFill>
                  <a:srgbClr val="607080"/>
                </a:solidFill>
                <a:latin typeface="Calibri"/>
              </a:rPr>
              <a:t>BP &lt; 90/60 → alert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07080"/>
                </a:solidFill>
                <a:latin typeface="Calibri"/>
              </a:rPr>
              <a:t>▸ </a:t>
            </a:r>
            <a:r>
              <a:rPr sz="1300">
                <a:solidFill>
                  <a:srgbClr val="607080"/>
                </a:solidFill>
                <a:latin typeface="Calibri"/>
              </a:rPr>
              <a:t>3 separate alarms, no 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103120"/>
            <a:ext cx="4114800" cy="25603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194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VARPULIS PATTERN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Captured 14 declining readings over 4 hours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HR trending up: 88 → 95 → 108 → 122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SpO2 trending down: 97 → 94 → 91 → 88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One alert with full clinical timeline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37760"/>
            <a:ext cx="7772400" cy="25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0139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A7"/>
                </a:solidFill>
                <a:latin typeface="Calibri"/>
              </a:defRPr>
            </a:pPr>
            <a:r>
              <a:t>CLINICAL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949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C9A7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Reduces alarm fatigue: 14 threshold alerts → 1 contextualized clinical alert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C9A7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Enables early intervention: detect trends 2–4 hours before critical threshold breach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Safety-Critical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82880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9A7"/>
                </a:solidFill>
                <a:latin typeface="Calibri"/>
              </a:defRPr>
            </a:pPr>
            <a:r>
              <a:t>&lt; 1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Alert</a:t>
            </a:r>
            <a:br/>
            <a:r>
              <a:t>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463040"/>
            <a:ext cx="182880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45EF7"/>
                </a:solidFill>
                <a:latin typeface="Calibri"/>
              </a:defRPr>
            </a:pPr>
            <a:r>
              <a:t>10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Memory per</a:t>
            </a:r>
            <a:br/>
            <a:r>
              <a:t>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463040"/>
            <a:ext cx="182880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9A7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Garbage collection</a:t>
            </a:r>
            <a:br/>
            <a:r>
              <a:t>pauses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463040"/>
            <a:ext cx="182880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45EF7"/>
                </a:solidFill>
                <a:latin typeface="Calibri"/>
              </a:defRPr>
            </a:pPr>
            <a:r>
              <a:t>100×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Multi-rule</a:t>
            </a:r>
            <a:br/>
            <a:r>
              <a:t>scaling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26080"/>
            <a:ext cx="3657600" cy="25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002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A7"/>
                </a:solidFill>
                <a:latin typeface="Calibri"/>
              </a:defRPr>
            </a:pPr>
            <a:r>
              <a:t>WHY LATENCY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3840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Alerts fire before medication administration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No GC pauses = no missed vitals readings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Deterministic latency for safety-critical use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Works on bedside hardware (10 MB footprint)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2926080"/>
            <a:ext cx="3931920" cy="25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002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A7"/>
                </a:solidFill>
                <a:latin typeface="Calibri"/>
              </a:defRPr>
            </a:pPr>
            <a:r>
              <a:t>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38328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Monitor 1000+ patients on single node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50+ safety rules without added infrastructure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Hamlet engine shares computation across rules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Add new drug interaction databases on the fly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Multi-Source Clinical Correlation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Correlate events across EHR, pharmacy, lab, and bedside monitors</a:t>
            </a:r>
            <a:br/>
            <a:r>
              <a:t>in a single stream processing pipeline.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03120"/>
            <a:ext cx="1965960" cy="11887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1488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9A7"/>
                </a:solidFill>
                <a:latin typeface="Calibri"/>
              </a:defRPr>
            </a:pPr>
            <a:r>
              <a:t>EHR / HL7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1460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Prescriptions,</a:t>
            </a:r>
            <a:br/>
            <a:r>
              <a:t>diagnoses, orders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23160" y="2103120"/>
            <a:ext cx="1965960" cy="11887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21488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9A7"/>
                </a:solidFill>
                <a:latin typeface="Calibri"/>
              </a:defRPr>
            </a:pPr>
            <a:r>
              <a:t>Pharmacy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51460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Dispensing events,</a:t>
            </a:r>
            <a:br/>
            <a:r>
              <a:t>interaction databases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103120"/>
            <a:ext cx="1965960" cy="11887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1488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9A7"/>
                </a:solidFill>
                <a:latin typeface="Calibri"/>
              </a:defRPr>
            </a:pPr>
            <a:r>
              <a:t>Lab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1460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Test results,</a:t>
            </a:r>
            <a:br/>
            <a:r>
              <a:t>critical values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2103120"/>
            <a:ext cx="1965960" cy="11887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21488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9A7"/>
                </a:solidFill>
                <a:latin typeface="Calibri"/>
              </a:defRPr>
            </a:pPr>
            <a:r>
              <a:t>Bedside Monitors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51460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Vitals, alarms,</a:t>
            </a:r>
            <a:br/>
            <a:r>
              <a:t>waveforms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C9A7"/>
                </a:solidFill>
                <a:latin typeface="Calibri"/>
              </a:defRPr>
            </a:pPr>
            <a:r>
              <a:t>↓        ↓        ↓        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3931920"/>
            <a:ext cx="4572000" cy="4572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860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  <a:latin typeface="Calibri"/>
              </a:defRPr>
            </a:pPr>
            <a:r>
              <a:t>VARPULIS  —  Real-Time Pattern Matching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663440"/>
            <a:ext cx="7772400" cy="25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7396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A7"/>
                </a:solidFill>
                <a:latin typeface="Calibri"/>
              </a:defRPr>
            </a:pPr>
            <a:r>
              <a:t>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MQTT for bedside device streams • Kafka for EHR event buses • HTTP webhooks for alerts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PostgreSQL/MySQL for audit trails • Elasticsearch for clinical search • Redis for caching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Deployment Flexibility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C4DE"/>
                </a:solidFill>
                <a:latin typeface="Calibri"/>
              </a:defRPr>
            </a:pPr>
            <a:r>
              <a:t>From bedside to enterprise — same engine, same rules, different scale.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2651760" cy="25603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  <a:latin typeface="Calibri"/>
              </a:defRPr>
            </a:pPr>
            <a:r>
              <a:t>Bedside /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C4DE"/>
                </a:solidFill>
                <a:latin typeface="Calibri"/>
              </a:defRPr>
            </a:pPr>
            <a:r>
              <a:t>10 MB single binary</a:t>
            </a:r>
            <a:br/>
            <a:r>
              <a:t>No JVM required</a:t>
            </a:r>
            <a:br/>
            <a:r>
              <a:t>Works on ARM / x86</a:t>
            </a:r>
            <a:br/>
            <a:r>
              <a:t>Air-gapped compatible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103120"/>
            <a:ext cx="2651760" cy="25603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  <a:latin typeface="Calibri"/>
              </a:defRPr>
            </a:pPr>
            <a:r>
              <a:t>Department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6517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C4DE"/>
                </a:solidFill>
                <a:latin typeface="Calibri"/>
              </a:defRPr>
            </a:pPr>
            <a:r>
              <a:t>REST API with multi-tenant</a:t>
            </a:r>
            <a:br/>
            <a:r>
              <a:t>Monaco editor for rules</a:t>
            </a:r>
            <a:br/>
            <a:r>
              <a:t>Prometheus monitoring</a:t>
            </a:r>
            <a:br/>
            <a:r>
              <a:t>Hot reload (zero downtime)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103120"/>
            <a:ext cx="2651760" cy="25603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  <a:latin typeface="Calibri"/>
              </a:defRPr>
            </a:pPr>
            <a:r>
              <a:t>Hospital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6517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C4DE"/>
                </a:solidFill>
                <a:latin typeface="Calibri"/>
              </a:defRPr>
            </a:pPr>
            <a:r>
              <a:t>Distributed cluster mode</a:t>
            </a:r>
            <a:br/>
            <a:r>
              <a:t>Kubernetes / Helm deploy</a:t>
            </a:r>
            <a:br/>
            <a:r>
              <a:t>Checkpointing &amp; recovery</a:t>
            </a:r>
            <a:br/>
            <a:r>
              <a:t>Horizontal auto-scaling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37760"/>
            <a:ext cx="7772400" cy="25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0139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A7"/>
                </a:solidFill>
                <a:latin typeface="Calibri"/>
              </a:defRPr>
            </a:pPr>
            <a:r>
              <a:t>COMPLIANCE &amp;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949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Deterministic processing: same input = same output, auditable and reproducible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C9A7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Rust memory safety: no buffer overflows, no null pointer dereferences — by design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Clinical and Operational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9A7"/>
                </a:solidFill>
                <a:latin typeface="Calibri"/>
              </a:defRPr>
            </a:pPr>
            <a:r>
              <a:t>&lt; 1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Alert before</a:t>
            </a:r>
            <a:br/>
            <a:r>
              <a:t>administration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45EF7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Alarm fatigue</a:t>
            </a:r>
            <a:br/>
            <a:r>
              <a:t>reduction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9A7"/>
                </a:solidFill>
                <a:latin typeface="Calibri"/>
              </a:defRPr>
            </a:pPr>
            <a:r>
              <a:t>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More patterns</a:t>
            </a:r>
            <a:br/>
            <a:r>
              <a:t>detected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45EF7"/>
                </a:solidFill>
                <a:latin typeface="Calibri"/>
              </a:defRPr>
            </a:pPr>
            <a:r>
              <a:t>15×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Less memory</a:t>
            </a:r>
            <a:br/>
            <a:r>
              <a:t>than legacy CEP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26080"/>
            <a:ext cx="7772400" cy="25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0022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A7"/>
                </a:solidFill>
                <a:latin typeface="Calibri"/>
              </a:defRPr>
            </a:pPr>
            <a:r>
              <a:t>CLINICAL OUTCOMES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7772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Adverse drug event prevention: detect interactions before medication reaches the patient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Early deterioration detection: trend-based alerts 2–4 hours before critical thresholds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Alarm fatigue reduction: correlated clinical context replaces cascading threshold alerts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Infrastructure efficiency: 10 MB footprint enables bedside and edge deployment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C9A7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Clinician trust: readable rules that clinical staff can review and validate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Protect Patients. Alert Sooner. Deploy Anywhere.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C4DE"/>
                </a:solidFill>
                <a:latin typeface="Calibri"/>
              </a:defRPr>
            </a:pPr>
            <a:r>
              <a:t>See Varpulis detect a drug interaction in real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4D8"/>
                </a:solidFill>
                <a:latin typeface="Calibri"/>
              </a:defRPr>
            </a:pPr>
            <a:r>
              <a:t>demo.varpulis-cep.com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