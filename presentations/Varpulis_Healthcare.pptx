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6" r:id="rId17"/>
    <p:sldId id="263" r:id="rId14"/>
    <p:sldId id="264" r:id="rId15"/>
    <p:sldId id="265" r:id="rId16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8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Real-Time Patient</a:t>
            </a:r>
            <a:br/>
            <a:r>
              <a:t>Safety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C4DE"/>
                </a:solidFill>
                <a:latin typeface="Calibri"/>
              </a:defRPr>
            </a:pPr>
            <a:r>
              <a:t>Drug Interactions • Vital Sign Deterioration • Dosage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Sub-millisecond alerts before medication is administered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Patient Safety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Adverse drug events affect 2+ million patients annually.</a:t>
            </a:r>
            <a:br/>
            <a:r>
              <a:t>Batch analytics detect problems after harm has occurred.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Drug interactions span multiple prescribers, pharmacies, and EHR systems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15-minute batch windows are too slow — medication is administered in seconds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Vital sign deterioration patterns unfold over hours, invisible to threshold alerts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Single-event alerts cause alarm fatigue; clinicians need correlated, sequenced context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Legacy CEP engines require 85–190 MB per rule — prohibitive for bedside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7772400" cy="7315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Calibri"/>
              </a:defRPr>
            </a:pPr>
            <a:r>
              <a:t>"The window between prescription and administration is often minutes.</a:t>
            </a:r>
            <a:br/>
            <a:r>
              <a:t>A 15-minute batch cycle means the alert arrives after the patient has been harmed."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Cross-Prescriber Drug Interaction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Detect dangerous drug interactions across prescribers, departments,</a:t>
            </a:r>
            <a:br/>
            <a:r>
              <a:t>and time windows — before the medication reaches the patient.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772400" cy="237744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Consolas"/>
              </a:defRPr>
            </a:pPr>
            <a:r>
              <a:t>  // Dangerous cross-prescriber drug interaction</a:t>
            </a:r>
            <a:br/>
            <a:r>
              <a:t>  stream DrugInteraction =</a:t>
            </a:r>
            <a:br/>
            <a:r>
              <a:t>      SEQ(Prescription rx1, Prescription rx2)</a:t>
            </a:r>
            <a:br/>
            <a:r>
              <a:t>      .where(rx1.patient_id == rx2.patient_id)</a:t>
            </a:r>
            <a:br/>
            <a:r>
              <a:t>      .where(rx1.prescriber != rx2.prescriber)</a:t>
            </a:r>
            <a:br/>
            <a:r>
              <a:t>      .where(is_contraindicated(rx1.drug, rx2.drug))</a:t>
            </a:r>
            <a:br/>
            <a:r>
              <a:t>      .within(24h)</a:t>
            </a:r>
            <a:br/>
            <a:r>
              <a:t>      .emit(patient: rx1.patient_id, drug_a: rx1.drug,</a:t>
            </a:r>
            <a:br/>
            <a:r>
              <a:t>            drug_b: rx2.drug, severity: interaction_severity(rx1.drug, rx2.drug))</a:t>
            </a:r>
            <a:br/>
            <a:r>
              <a:t>      .to(ClinicalAlerts, PharmacyReview)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Alert before</a:t>
            </a:r>
            <a:br/>
            <a:r>
              <a:t>administration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846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4983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45EF7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Cross-prescriber</a:t>
            </a:r>
            <a:br/>
            <a: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846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983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Interaction pairs</a:t>
            </a:r>
            <a:br/>
            <a:r>
              <a:t>detected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Vital Sign Deterioration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Detect deterioration trends that threshold alerts miss.</a:t>
            </a:r>
            <a:br/>
            <a:r>
              <a:t>Kleene closure captures the full trajectory, not just the breach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772400" cy="219456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/>
                <a:cs typeface="Consolas"/>
              </a:rPr>
              <a:t>// Gradual vital sign deterioration (early warning score)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/>
                <a:cs typeface="Consolas"/>
              </a:rPr>
              <a:t>stream Deterioration =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/>
                <a:cs typeface="Consolas"/>
              </a:rPr>
              <a:t>    SEQ(Vitals v1, Vitals declining+, Vitals critical)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.where(v1.patient_id == declining.patient_id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/>
                <a:cs typeface="Consolas"/>
              </a:rPr>
              <a:t>       and (declining.hr &gt; v1.hr * 1.1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/>
                <a:cs typeface="Consolas"/>
              </a:rPr>
              <a:t>            or declining.spo2 &lt; v1.spo2 - 2)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/>
                <a:cs typeface="Consolas"/>
              </a:rPr>
              <a:t>       and critical.news_score &gt;= 7)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.within(6h)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.forecast(confidence: 0.7, horizon: 2h, warmup: 200)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.where(forecast_probability &gt; 0.75)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.emit(patient: v1.patient_id,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ED4DA"/>
                </a:solidFill>
                <a:latin typeface="Consolas"/>
                <a:cs typeface="Consolas"/>
              </a:rPr>
              <a:t>          trend_readings: count(declining),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ED4DA"/>
                </a:solidFill>
                <a:latin typeface="Consolas"/>
                <a:cs typeface="Consolas"/>
              </a:rPr>
              <a:t>          rate_of_change: avg(declining.hr) - v1.hr)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.to(RapidResponse)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declining+ captures every worsening reading — shows the complete trajectory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Rate-of-change analysis: alerts on trends, not just thresholds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Temporal context: clinicians see hours of data, not a single alarm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Reduces alarm fatigue: one correlated alert replaces dozens of threshold breaches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From Alarm Fatigue to Clinical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Full Kleene closure means every matching event is captured — </a:t>
            </a:r>
            <a:br/>
            <a:r>
              <a:t>critical for clinical evidence and root cause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7080"/>
                </a:solidFill>
                <a:latin typeface="Calibri"/>
              </a:defRPr>
            </a:pPr>
            <a:r>
              <a:t>THRESHOLD ALERTING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HR &gt; 120 → alert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SpO2 &lt; 90 → alert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BP &lt; 90/60 → alert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3 separate alarms, no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411480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t>VARPULIS PATTERN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Captured 14 declining readings over 4 hours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HR trending up: 88 → 95 → 108 → 122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SpO2 trending down: 97 → 94 → 91 → 88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One alert with full clinical timeline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777240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13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CLINICAL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Reduces alarm fatigue: 14 threshold alerts → 1 contextualized clinical alert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C9A7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Enables early intervention: detect trends 2–4 hours before critical threshold breach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Safety-Critical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Alert</a:t>
            </a:r>
            <a:br/>
            <a:r>
              <a:t>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45EF7"/>
                </a:solidFill>
                <a:latin typeface="Calibri"/>
              </a:defRPr>
            </a:pPr>
            <a:r>
              <a:t>10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Memory per</a:t>
            </a:r>
            <a:br/>
            <a: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Garbage collection</a:t>
            </a:r>
            <a:br/>
            <a:r>
              <a:t>pauses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45EF7"/>
                </a:solidFill>
                <a:latin typeface="Calibri"/>
              </a:defRPr>
            </a:pPr>
            <a:r>
              <a:t>100×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Multi-rule</a:t>
            </a:r>
            <a:br/>
            <a:r>
              <a:t>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365760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2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WHY LATENCY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Alerts fire before medication administration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No GC pauses = no missed vitals readings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Deterministic latency for safety-critical use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Works on bedside hardware (10 MB footprint)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926080"/>
            <a:ext cx="393192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002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3832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Monitor 1000+ patients on single node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50+ safety rules without added infrastructure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Hamlet engine shares computation across rules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Add new drug interaction databases on the fly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Multi-Source Clinical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Correlate events across EHR, pharmacy, lab, and bedside monitors</a:t>
            </a:r>
            <a:br/>
            <a:r>
              <a:t>in a single stream processing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196596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A7"/>
                </a:solidFill>
                <a:latin typeface="Calibri"/>
              </a:defRPr>
            </a:pPr>
            <a:r>
              <a:t>EHR / HL7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Prescriptions,</a:t>
            </a:r>
            <a:br/>
            <a:r>
              <a:t>diagnoses,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103120"/>
            <a:ext cx="196596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A7"/>
                </a:solidFill>
                <a:latin typeface="Calibri"/>
              </a:defRPr>
            </a:pPr>
            <a:r>
              <a:t>Pharmacy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146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Dispensing events,</a:t>
            </a:r>
            <a:br/>
            <a:r>
              <a:t>interaction databases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03120"/>
            <a:ext cx="196596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A7"/>
                </a:solidFill>
                <a:latin typeface="Calibri"/>
              </a:defRPr>
            </a:pPr>
            <a:r>
              <a:t>Lab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Test results,</a:t>
            </a:r>
            <a:br/>
            <a:r>
              <a:t>critical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103120"/>
            <a:ext cx="196596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9A7"/>
                </a:solidFill>
                <a:latin typeface="Calibri"/>
              </a:defRPr>
            </a:pPr>
            <a:r>
              <a:t>Bedside Monitors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5146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Vitals, alarms,</a:t>
            </a:r>
            <a:br/>
            <a:r>
              <a:t>waveforms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↓        ↓        ↓       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VARPULIS  —  Real-Time Pattern Matching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777240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39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MQTT for bedside device streams • Kafka for EHR event buses • HTTP webhooks for alerts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PostgreSQL/MySQL for audit trails • Elasticsearch for clinical search • Redis for caching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VARPULIS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Predict Deterioration Before It Becomes Critical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B0C4DE"/>
                </a:solidFill>
                <a:latin typeface="Calibri"/>
              </a:rPr>
              <a:t>Instead of waiting for a vital sign to breach a threshold, Varpulis
forecasts the probability that a patient’s trend will reach a critical level —
giving clinicians hours of advance warning to intervene.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2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31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EXAMPLE: VITAL SIGN DETERIORATION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828800" cy="6858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74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HR 88, SpO2 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60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0C4DE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Calibri"/>
              </a:rPr>
              <a:t>p =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23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194560"/>
            <a:ext cx="1828800" cy="6858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174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HR 95, SpO2 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4460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0C4DE"/>
                </a:solidFill>
                <a:latin typeface="Calibri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  <a:latin typeface="Calibri"/>
              </a:rPr>
              <a:t>p = 0.31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23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194560"/>
            <a:ext cx="1828800" cy="685800"/>
          </a:xfrm>
          <a:prstGeom prst="rect">
            <a:avLst/>
          </a:prstGeom>
          <a:solidFill>
            <a:srgbClr val="4A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2174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HR 108, SpO2 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460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0C4DE"/>
                </a:solidFill>
                <a:latin typeface="Calibri"/>
              </a:rPr>
              <a:t>Alert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Calibri"/>
              </a:rPr>
              <a:t>p = 0.78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423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194560"/>
            <a:ext cx="1828800" cy="685800"/>
          </a:xfrm>
          <a:prstGeom prst="rect">
            <a:avLst/>
          </a:prstGeom>
          <a:solidFill>
            <a:srgbClr val="1B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2174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HR 122, SpO2 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460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B0C4DE"/>
                </a:solidFill>
                <a:latin typeface="Calibri"/>
              </a:rPr>
              <a:t>Intervened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54680"/>
            <a:ext cx="38404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30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Learns patient-specific deterioration patterns from the live vital sign stream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Calculates the probability of reaching a critical threshold (e.g. NEWS &gt;= 7)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Alerts at a clinician-defined probability — not a fixed threshold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Includes confidence levels: high certainty predictions vs uncertain early signals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154680"/>
            <a:ext cx="393192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230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CLINICAL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4747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Early warning: 2–4 hours before critical threshold breach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One contextual alert replaces dozens of individual threshold alarms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Adapts per patient — no population-average bias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No training data or ML infrastructure — works from first admission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20640"/>
            <a:ext cx="7772400" cy="6400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B0C4DE"/>
                </a:solidFill>
                <a:latin typeface="Calibri"/>
              </a:rPr>
              <a:t>One line in your detection rule enables forecasting:   .forecast(confidence: 0.7, horizon: 2h)
The engine does the rest — learning, predicting, and alerting — all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Flexibility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From bedside to enterprise — same engine, same rules, different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Bedside /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10 MB single binary</a:t>
            </a:r>
            <a:br/>
            <a:r>
              <a:t>No JVM required</a:t>
            </a:r>
            <a:br/>
            <a:r>
              <a:t>Works on ARM / x86</a:t>
            </a:r>
            <a:br/>
            <a:r>
              <a:t>Air-gapped compatible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Department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REST API with multi-tenant</a:t>
            </a:r>
            <a:br/>
            <a:r>
              <a:t>Monaco editor for rules</a:t>
            </a:r>
            <a:br/>
            <a:r>
              <a:t>Prometheus monitoring</a:t>
            </a:r>
            <a:br/>
            <a:r>
              <a:t>Hot reload (zero downtime)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Hospital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Distributed cluster mode</a:t>
            </a:r>
            <a:br/>
            <a:r>
              <a:t>Kubernetes / Helm deploy</a:t>
            </a:r>
            <a:br/>
            <a:r>
              <a:t>Checkpointing &amp; recovery</a:t>
            </a:r>
            <a:br/>
            <a:r>
              <a:t>Horizontal auto-scaling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77240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13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COMPLIANCE &amp;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Deterministic processing: same input = same output, auditable and reproducible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C9A7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Rust memory safety: no buffer overflows, no null pointer dereferences — by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Clinical and Operational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Alert before</a:t>
            </a:r>
            <a:br/>
            <a:r>
              <a:t>administration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45EF7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Alarm fatigue</a:t>
            </a:r>
            <a:br/>
            <a:r>
              <a:t>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t>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More patterns</a:t>
            </a:r>
            <a:br/>
            <a:r>
              <a:t>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45EF7"/>
                </a:solidFill>
                <a:latin typeface="Calibri"/>
              </a:defRPr>
            </a:pPr>
            <a:r>
              <a:t>15×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Less memory</a:t>
            </a:r>
            <a:br/>
            <a:r>
              <a:t>than legacy CEP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7772400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2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CLINICAL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Adverse drug event prevention: detect interactions before medication reaches the patient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Early deterioration detection: trend-based alerts 2–4 hours before critical thresholds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Alarm fatigue reduction: correlated clinical context replaces cascading threshold alerts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Infrastructure efficiency: 10 MB footprint enables bedside and edge deployment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C9A7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Predictive forecasting: PST-based deterioration prediction with conformal confidence bounds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Protect Patients. Alert Sooner. Deploy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Calibri"/>
              </a:defRPr>
            </a:pPr>
            <a:r>
              <a:t>See Varpulis detect a drug interaction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demo.varpulis-cep.com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VARPULIS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Appendix: Forecasting Engine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PREDICTION SUFFIX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Variable-depth Markov model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Learns transition probabilities from the event stream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Adapts context depth to data — deeper only where statistically significant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Combined with SASE NFA to form Pattern Markov Chain (PMC)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51 ns per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HAWKES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Self-exciting point process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Tracks temporal event density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When events burst (accelerate), intensity spikes → probability boost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O(1) per event via recursive formula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Online parameter estimation via EMA (~20 events to adapt)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CONFORMAL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Non-parametric prediction intervals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No distributional assumptions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Calibrated coverage guarantee (e.g. 90% of true values fall within bounds)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Based on past forecast outcomes — self-calibrating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Tells you when predictions are reliable vs uncertain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787878"/>
                </a:solidFill>
                <a:latin typeface="Calibri"/>
              </a:rPr>
              <a:t>Reference: Complex Event Forecasting with Prediction Suffix Trees (Alevizos, Artikis, Paliouras — arXiv:2109.00287)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7772400" cy="54864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C4DE"/>
                </a:solidFill>
                <a:latin typeface="Calibri"/>
              </a:rPr>
              <a:t>Performance: PST training 4.6M events/s  |  Single prediction 51 ns  |  Full PMC forecast 10.8 µs/event  |  Online learning 5.4M updates/s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